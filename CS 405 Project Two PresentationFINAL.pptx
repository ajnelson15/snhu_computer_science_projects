
<file path=[Content_Types].xml><?xml version="1.0" encoding="utf-8"?>
<Types xmlns="http://schemas.openxmlformats.org/package/2006/content-types">
  <Default Extension="fntdata" ContentType="application/x-fontdata"/>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0.xml" ContentType="application/vnd.openxmlformats-officedocument.presentationml.tags+xml"/>
  <Override PartName="/ppt/notesSlides/notesSlide12.xml" ContentType="application/vnd.openxmlformats-officedocument.presentationml.notesSlide+xml"/>
  <Override PartName="/ppt/tags/tag11.xml" ContentType="application/vnd.openxmlformats-officedocument.presentationml.tags+xml"/>
  <Override PartName="/ppt/notesSlides/notesSlide13.xml" ContentType="application/vnd.openxmlformats-officedocument.presentationml.notesSlide+xml"/>
  <Override PartName="/ppt/tags/tag12.xml" ContentType="application/vnd.openxmlformats-officedocument.presentationml.tags+xml"/>
  <Override PartName="/ppt/notesSlides/notesSlide14.xml" ContentType="application/vnd.openxmlformats-officedocument.presentationml.notesSlide+xml"/>
  <Override PartName="/ppt/tags/tag13.xml" ContentType="application/vnd.openxmlformats-officedocument.presentationml.tags+xml"/>
  <Override PartName="/ppt/notesSlides/notesSlide15.xml" ContentType="application/vnd.openxmlformats-officedocument.presentationml.notesSlide+xml"/>
  <Override PartName="/ppt/tags/tag14.xml" ContentType="application/vnd.openxmlformats-officedocument.presentationml.tags+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1"/>
  </p:notesMasterIdLst>
  <p:sldIdLst>
    <p:sldId id="256" r:id="rId5"/>
    <p:sldId id="257" r:id="rId6"/>
    <p:sldId id="258" r:id="rId7"/>
    <p:sldId id="259" r:id="rId8"/>
    <p:sldId id="260" r:id="rId9"/>
    <p:sldId id="261" r:id="rId10"/>
    <p:sldId id="262" r:id="rId11"/>
    <p:sldId id="263" r:id="rId12"/>
    <p:sldId id="270" r:id="rId13"/>
    <p:sldId id="271" r:id="rId14"/>
    <p:sldId id="272" r:id="rId15"/>
    <p:sldId id="264" r:id="rId16"/>
    <p:sldId id="266" r:id="rId17"/>
    <p:sldId id="267" r:id="rId18"/>
    <p:sldId id="268" r:id="rId19"/>
    <p:sldId id="269" r:id="rId20"/>
  </p:sldIdLst>
  <p:sldSz cx="12192000" cy="6858000"/>
  <p:notesSz cx="6858000" cy="9144000"/>
  <p:embeddedFontLst>
    <p:embeddedFont>
      <p:font typeface="Century Gothic" panose="020B0502020202020204" pitchFamily="34" charset="0"/>
      <p:regular r:id="rId22"/>
      <p:bold r:id="rId23"/>
      <p:italic r:id="rId24"/>
      <p:boldItalic r:id="rId25"/>
    </p:embeddedFont>
    <p:embeddedFont>
      <p:font typeface="Consolas" panose="020B0609020204030204" pitchFamily="49" charset="0"/>
      <p:regular r:id="rId26"/>
      <p:bold r:id="rId27"/>
      <p:italic r:id="rId28"/>
      <p:boldItalic r:id="rId29"/>
    </p:embeddedFont>
  </p:embeddedFontLst>
  <p:custDataLst>
    <p:tags r:id="rId30"/>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2"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9118"/>
    <a:srgbClr val="FEFF9C"/>
    <a:srgbClr val="03D9E9"/>
    <a:srgbClr val="FF2FB9"/>
    <a:srgbClr val="021B15"/>
    <a:srgbClr val="196028"/>
    <a:srgbClr val="15A0E6"/>
    <a:srgbClr val="B91C00"/>
    <a:srgbClr val="689550"/>
    <a:srgbClr val="62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E0379A-01D9-4BEB-8D8C-748DFBF45508}" v="32" dt="2025-04-27T14:42:30.059"/>
  </p1510:revLst>
</p1510:revInfo>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7914" autoAdjust="0"/>
  </p:normalViewPr>
  <p:slideViewPr>
    <p:cSldViewPr snapToGrid="0">
      <p:cViewPr varScale="1">
        <p:scale>
          <a:sx n="64" d="100"/>
          <a:sy n="64" d="100"/>
        </p:scale>
        <p:origin x="3978" y="108"/>
      </p:cViewPr>
      <p:guideLst>
        <p:guide orient="horz" pos="2160"/>
        <p:guide pos="3840"/>
      </p:guideLst>
    </p:cSldViewPr>
  </p:slideViewPr>
  <p:notesTextViewPr>
    <p:cViewPr>
      <p:scale>
        <a:sx n="200" d="100"/>
        <a:sy n="2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5.fntdata"/><Relationship Id="rId3" Type="http://schemas.openxmlformats.org/officeDocument/2006/relationships/customXml" Target="../customXml/item3.xml"/><Relationship Id="rId21" Type="http://schemas.openxmlformats.org/officeDocument/2006/relationships/notesMaster" Target="notesMasters/notesMaster1.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4.fntdata"/><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8.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3.fntdata"/><Relationship Id="rId32" Type="http://customschemas.google.com/relationships/presentationmetadata" Target="metadata"/><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tags" Target="tags/tag1.xml"/><Relationship Id="rId35" Type="http://schemas.openxmlformats.org/officeDocument/2006/relationships/theme" Target="theme/theme1.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800" dirty="0">
                <a:effectLst/>
                <a:latin typeface="Calibri" panose="020F0502020204030204" pitchFamily="34" charset="0"/>
                <a:ea typeface="Calibri" panose="020F0502020204030204" pitchFamily="34" charset="0"/>
              </a:rPr>
              <a:t>Welcome to the Green Pace Security Policy Presentation. In this presentation, I will explain the secure coding policies developed for Green Pace, highlight critical vulnerabilities, and show how automation helps keep security strong through every phase of development.</a:t>
            </a:r>
            <a:endParaRPr dirty="0"/>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800" dirty="0">
                <a:effectLst/>
                <a:latin typeface="Calibri" panose="020F0502020204030204" pitchFamily="34" charset="0"/>
                <a:ea typeface="Calibri" panose="020F0502020204030204" pitchFamily="34" charset="0"/>
              </a:rPr>
              <a:t>The Green Pace Security Policy was made to help protect our software from new threats that happen as technology grows. As more people join the team, it is important to have clear rules so everyone stays on the same page and builds secure code. Without a strong policy, it would be easy to miss things that hackers could use to attack us. This policy makes sure we think about security right from the start, not just at the end. It follows the defense-in-depth idea by adding many layers of protection, like secure coding, testing tools, encryption, and system checks.</a:t>
            </a:r>
          </a:p>
          <a:p>
            <a:pPr marL="0" lvl="0" indent="0" algn="l" rtl="0">
              <a:lnSpc>
                <a:spcPct val="100000"/>
              </a:lnSpc>
              <a:spcBef>
                <a:spcPts val="0"/>
              </a:spcBef>
              <a:spcAft>
                <a:spcPts val="0"/>
              </a:spcAft>
              <a:buSzPts val="1100"/>
              <a:buNone/>
            </a:pPr>
            <a:endParaRPr dirty="0"/>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800" dirty="0">
                <a:effectLst/>
                <a:latin typeface="Calibri" panose="020F0502020204030204" pitchFamily="34" charset="0"/>
                <a:ea typeface="Calibri" panose="020F0502020204030204" pitchFamily="34" charset="0"/>
              </a:rPr>
              <a:t>In the Threats Matrix, we identified our top priority risks: string handling errors, SQL injection, memory management errors, and integer overflows. These are serious because they can crash programs, expose data, or open the door for attacks. Likely risks include bad value validation and dangling pointers, and we marked things like data type errors and assertion misuse as lower priorities.</a:t>
            </a:r>
            <a:br>
              <a:rPr lang="en-US" sz="1800" dirty="0">
                <a:effectLst/>
                <a:latin typeface="Calibri" panose="020F0502020204030204" pitchFamily="34" charset="0"/>
                <a:ea typeface="Calibri" panose="020F0502020204030204" pitchFamily="34" charset="0"/>
              </a:rPr>
            </a:br>
            <a:r>
              <a:rPr lang="en-US" sz="1800" dirty="0">
                <a:effectLst/>
                <a:latin typeface="Calibri" panose="020F0502020204030204" pitchFamily="34" charset="0"/>
                <a:ea typeface="Calibri" panose="020F0502020204030204" pitchFamily="34" charset="0"/>
              </a:rPr>
              <a:t>To help catch these vulnerabilities early, we use three key tools: Cppcheck finds memory and integer problems during development, Clang Tidy catches bad pointer use and risky type conversions, and SonarQube identifies security issues like SQL injection vulnerabilities. These tools are automated to run during coding and building, helping us fix problems before they reach production.</a:t>
            </a:r>
          </a:p>
          <a:p>
            <a:pPr marL="0" lvl="0" indent="0" algn="l" rtl="0">
              <a:lnSpc>
                <a:spcPct val="100000"/>
              </a:lnSpc>
              <a:spcBef>
                <a:spcPts val="0"/>
              </a:spcBef>
              <a:spcAft>
                <a:spcPts val="0"/>
              </a:spcAft>
              <a:buSzPts val="1100"/>
              <a:buNone/>
            </a:pPr>
            <a:endParaRPr dirty="0"/>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800" dirty="0">
                <a:effectLst/>
                <a:latin typeface="Calibri" panose="020F0502020204030204" pitchFamily="34" charset="0"/>
                <a:ea typeface="Calibri" panose="020F0502020204030204" pitchFamily="34" charset="0"/>
              </a:rPr>
              <a:t>Our security policy follows ten important principles that guide us in how we write and review code. These principles include validating all input, listening to compiler warnings, designing systems with security in mind, keeping code simple to avoid hidden bugs, defaulting to deny unsafe input, sanitizing any data we send to external systems, using least privilege so users only have the access they need, practicing defense in depth by layering protections, using quality assurance techniques like code reviews and testing, and following a consistent secure coding standard. Every coding standard we built ties back to one or more of these principles, making sure our defenses are strong at every level of development.</a:t>
            </a:r>
          </a:p>
          <a:p>
            <a:pPr marL="0" lvl="0" indent="0" algn="l" rtl="0">
              <a:lnSpc>
                <a:spcPct val="100000"/>
              </a:lnSpc>
              <a:spcBef>
                <a:spcPts val="0"/>
              </a:spcBef>
              <a:spcAft>
                <a:spcPts val="0"/>
              </a:spcAft>
              <a:buSzPts val="1100"/>
              <a:buNone/>
            </a:pPr>
            <a:endParaRPr dirty="0"/>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800" dirty="0">
                <a:effectLst/>
                <a:latin typeface="Calibri" panose="020F0502020204030204" pitchFamily="34" charset="0"/>
                <a:ea typeface="Calibri" panose="020F0502020204030204" pitchFamily="34" charset="0"/>
              </a:rPr>
              <a:t>When we prioritized the coding standards, we focused first on the risks that could cause the most damage. SQL Injection was ranked highest because it could allow attackers to take control of our database with a simple input. String handling errors were next because they often cause buffer overflows, which are serious vulnerabilities. Memory management errors and integer overflows followed, because they can crash programs and open backdoors into the system. We addressed lower priority issues like assertion misuse and data type confusion after we secured the high-risk areas. Our goal was to tackle the most dangerous vulnerabilities first, reducing the biggest risks early.</a:t>
            </a:r>
          </a:p>
          <a:p>
            <a:pPr marL="0" lvl="0" indent="0" algn="l" rtl="0">
              <a:lnSpc>
                <a:spcPct val="100000"/>
              </a:lnSpc>
              <a:spcBef>
                <a:spcPts val="0"/>
              </a:spcBef>
              <a:spcAft>
                <a:spcPts val="0"/>
              </a:spcAft>
              <a:buSzPts val="1100"/>
              <a:buNone/>
            </a:pPr>
            <a:endParaRPr dirty="0"/>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a:lnSpc>
                <a:spcPct val="107000"/>
              </a:lnSpc>
              <a:spcAft>
                <a:spcPts val="800"/>
              </a:spcAft>
            </a:pPr>
            <a:r>
              <a:rPr lang="en-US" sz="1800" dirty="0">
                <a:effectLst/>
                <a:latin typeface="Calibri" panose="020F0502020204030204" pitchFamily="34" charset="0"/>
                <a:ea typeface="Calibri" panose="020F0502020204030204" pitchFamily="34" charset="0"/>
              </a:rPr>
              <a:t>We use encryption at every major point where data can be exposed. When data moves over the network, like during logins or data transfers, it’s protected with HTTPS and TLS to prevent interception. When data is stored on our servers or databases, it’s encrypted at rest so that even if someone steals a device, they cannot access the information. For data in use, while it’s being processed in memory, we use isolation techniques and best practices to make sure sensitive data is not accidentally leaked or exposed to unauthorized parts of the system. These layers of encryption work together to protect information from every angle.</a:t>
            </a: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800" dirty="0">
                <a:effectLst/>
                <a:latin typeface="Calibri" panose="020F0502020204030204" pitchFamily="34" charset="0"/>
                <a:ea typeface="Calibri" panose="020F0502020204030204" pitchFamily="34" charset="0"/>
              </a:rPr>
              <a:t>Authentication, Authorization, and Accounting  are at the core of how we control access to our systems. Authentication makes sure users are who they say they are, using strong passwords and multi-factor authentication. Authorization limits what users can do once they are logged in, only giving them access to the resources they need for their role. Accounting keeps track of everything users do by creating secure logs, which help us find suspicious activity or investigate if something goes wrong. Together, these policies help us control, monitor, and protect access to sensitive data and critical systems.</a:t>
            </a:r>
          </a:p>
          <a:p>
            <a:pPr marL="0" lvl="0" indent="0" algn="l" rtl="0">
              <a:lnSpc>
                <a:spcPct val="100000"/>
              </a:lnSpc>
              <a:spcBef>
                <a:spcPts val="0"/>
              </a:spcBef>
              <a:spcAft>
                <a:spcPts val="0"/>
              </a:spcAft>
              <a:buSzPts val="1100"/>
              <a:buNone/>
            </a:pPr>
            <a:endParaRPr dirty="0"/>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800" dirty="0">
                <a:effectLst/>
                <a:latin typeface="Calibri" panose="020F0502020204030204" pitchFamily="34" charset="0"/>
                <a:ea typeface="Calibri" panose="020F0502020204030204" pitchFamily="34" charset="0"/>
              </a:rPr>
              <a:t>As part of our secure coding plan, we added unit tests to catch vulnerabilities early. We focused on the biggest risks we identified earlier. First, we tested Safe String Copy to make sure short strings copied safely into buffers without overflow. </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800" dirty="0">
                <a:effectLst/>
                <a:latin typeface="Calibri" panose="020F0502020204030204" pitchFamily="34" charset="0"/>
                <a:ea typeface="Calibri" panose="020F0502020204030204" pitchFamily="34" charset="0"/>
              </a:rPr>
              <a:t>Next, we tested for Integer Overflow, checking that unsafe math gets caught while normal math works fine.</a:t>
            </a:r>
            <a:endParaRPr lang="en-US" dirty="0"/>
          </a:p>
        </p:txBody>
      </p:sp>
    </p:spTree>
    <p:extLst>
      <p:ext uri="{BB962C8B-B14F-4D97-AF65-F5344CB8AC3E}">
        <p14:creationId xmlns:p14="http://schemas.microsoft.com/office/powerpoint/2010/main" val="5321083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sz="1800" dirty="0">
                <a:effectLst/>
                <a:latin typeface="Calibri" panose="020F0502020204030204" pitchFamily="34" charset="0"/>
                <a:ea typeface="Calibri" panose="020F0502020204030204" pitchFamily="34" charset="0"/>
              </a:rPr>
              <a:t>We also tested Use After Free, making sure pointers are set to null after memory is deleted to avoid dangling pointer problems.</a:t>
            </a:r>
            <a:endParaRPr lang="en-US" dirty="0"/>
          </a:p>
        </p:txBody>
      </p:sp>
    </p:spTree>
    <p:extLst>
      <p:ext uri="{BB962C8B-B14F-4D97-AF65-F5344CB8AC3E}">
        <p14:creationId xmlns:p14="http://schemas.microsoft.com/office/powerpoint/2010/main" val="10008062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800" dirty="0">
                <a:effectLst/>
                <a:latin typeface="Calibri" panose="020F0502020204030204" pitchFamily="34" charset="0"/>
                <a:ea typeface="Calibri" panose="020F0502020204030204" pitchFamily="34" charset="0"/>
              </a:rPr>
              <a:t>Finally, we tested Null Pointer Dereference, verifying that good pointers pass, and bad pointers are caught. </a:t>
            </a:r>
          </a:p>
          <a:p>
            <a:endParaRPr lang="en-US" sz="1800" dirty="0">
              <a:effectLst/>
              <a:latin typeface="Calibri" panose="020F0502020204030204" pitchFamily="34" charset="0"/>
              <a:ea typeface="Calibri" panose="020F0502020204030204" pitchFamily="34" charset="0"/>
            </a:endParaRPr>
          </a:p>
          <a:p>
            <a:r>
              <a:rPr lang="en-US" sz="1800" dirty="0">
                <a:effectLst/>
                <a:latin typeface="Calibri" panose="020F0502020204030204" pitchFamily="34" charset="0"/>
                <a:ea typeface="Calibri" panose="020F0502020204030204" pitchFamily="34" charset="0"/>
              </a:rPr>
              <a:t>We used </a:t>
            </a:r>
            <a:r>
              <a:rPr lang="en-US" sz="1800" dirty="0" err="1">
                <a:effectLst/>
                <a:latin typeface="Calibri" panose="020F0502020204030204" pitchFamily="34" charset="0"/>
                <a:ea typeface="Calibri" panose="020F0502020204030204" pitchFamily="34" charset="0"/>
              </a:rPr>
              <a:t>GoogleTest</a:t>
            </a:r>
            <a:r>
              <a:rPr lang="en-US" sz="1800" dirty="0">
                <a:effectLst/>
                <a:latin typeface="Calibri" panose="020F0502020204030204" pitchFamily="34" charset="0"/>
                <a:ea typeface="Calibri" panose="020F0502020204030204" pitchFamily="34" charset="0"/>
              </a:rPr>
              <a:t> to automate all these tests and show pass or fail results after every build. To take it further, we could add fuzz testing to send random inputs at the code and find hidden bugs. We could also expand unit tests to cover edge cases like empty inputs or oversized values.</a:t>
            </a:r>
            <a:endParaRPr lang="en-US" dirty="0"/>
          </a:p>
        </p:txBody>
      </p:sp>
    </p:spTree>
    <p:extLst>
      <p:ext uri="{BB962C8B-B14F-4D97-AF65-F5344CB8AC3E}">
        <p14:creationId xmlns:p14="http://schemas.microsoft.com/office/powerpoint/2010/main" val="33116428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800" dirty="0">
                <a:effectLst/>
                <a:latin typeface="Calibri" panose="020F0502020204030204" pitchFamily="34" charset="0"/>
                <a:ea typeface="Calibri" panose="020F0502020204030204" pitchFamily="34" charset="0"/>
              </a:rPr>
              <a:t>Security automation is built into every stage of the </a:t>
            </a:r>
            <a:r>
              <a:rPr lang="en-US" sz="1800" dirty="0" err="1">
                <a:effectLst/>
                <a:latin typeface="Calibri" panose="020F0502020204030204" pitchFamily="34" charset="0"/>
                <a:ea typeface="Calibri" panose="020F0502020204030204" pitchFamily="34" charset="0"/>
              </a:rPr>
              <a:t>DevSecOps</a:t>
            </a:r>
            <a:r>
              <a:rPr lang="en-US" sz="1800" dirty="0">
                <a:effectLst/>
                <a:latin typeface="Calibri" panose="020F0502020204030204" pitchFamily="34" charset="0"/>
                <a:ea typeface="Calibri" panose="020F0502020204030204" pitchFamily="34" charset="0"/>
              </a:rPr>
              <a:t> pipeline. During the Design stage, we plan security tools like </a:t>
            </a:r>
            <a:r>
              <a:rPr lang="en-US" sz="1800" dirty="0" err="1">
                <a:effectLst/>
                <a:latin typeface="Calibri" panose="020F0502020204030204" pitchFamily="34" charset="0"/>
                <a:ea typeface="Calibri" panose="020F0502020204030204" pitchFamily="34" charset="0"/>
              </a:rPr>
              <a:t>Cppcheck</a:t>
            </a:r>
            <a:r>
              <a:rPr lang="en-US" sz="1800" dirty="0">
                <a:effectLst/>
                <a:latin typeface="Calibri" panose="020F0502020204030204" pitchFamily="34" charset="0"/>
                <a:ea typeface="Calibri" panose="020F0502020204030204" pitchFamily="34" charset="0"/>
              </a:rPr>
              <a:t> and Clang Tidy to catch issues early. At the Build stage, the compiler adds security protections like stack protection and warnings and runs static analysis automatically. In the Verify and Test stage, </a:t>
            </a:r>
            <a:r>
              <a:rPr lang="en-US" sz="1800" dirty="0" err="1">
                <a:effectLst/>
                <a:latin typeface="Calibri" panose="020F0502020204030204" pitchFamily="34" charset="0"/>
                <a:ea typeface="Calibri" panose="020F0502020204030204" pitchFamily="34" charset="0"/>
              </a:rPr>
              <a:t>GoogleTest</a:t>
            </a:r>
            <a:r>
              <a:rPr lang="en-US" sz="1800" dirty="0">
                <a:effectLst/>
                <a:latin typeface="Calibri" panose="020F0502020204030204" pitchFamily="34" charset="0"/>
                <a:ea typeface="Calibri" panose="020F0502020204030204" pitchFamily="34" charset="0"/>
              </a:rPr>
              <a:t> unit tests check memory safety, input validation, and pointer handling. During the Transition stage, penetration testing and security configuration checks are automated. In the Monitor stage, logs and alerts are collected to watch for attacks or failures after deployment. </a:t>
            </a:r>
            <a:endParaRPr lang="en-US" dirty="0"/>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800" dirty="0">
                <a:effectLst/>
                <a:latin typeface="Calibri" panose="020F0502020204030204" pitchFamily="34" charset="0"/>
                <a:ea typeface="Calibri" panose="020F0502020204030204" pitchFamily="34" charset="0"/>
              </a:rPr>
              <a:t>When vulnerabilities are found too late, they cause expensive damage. Systems may crash, data may leak, and repairs become complicated. The solution is to use static analysis tools like Cppcheck and Clang Tidy, run automated unit tests with </a:t>
            </a:r>
            <a:r>
              <a:rPr lang="en-US" sz="1800" dirty="0" err="1">
                <a:effectLst/>
                <a:latin typeface="Calibri" panose="020F0502020204030204" pitchFamily="34" charset="0"/>
                <a:ea typeface="Calibri" panose="020F0502020204030204" pitchFamily="34" charset="0"/>
              </a:rPr>
              <a:t>GoogleTest</a:t>
            </a:r>
            <a:r>
              <a:rPr lang="en-US" sz="1800" dirty="0">
                <a:effectLst/>
                <a:latin typeface="Calibri" panose="020F0502020204030204" pitchFamily="34" charset="0"/>
                <a:ea typeface="Calibri" panose="020F0502020204030204" pitchFamily="34" charset="0"/>
              </a:rPr>
              <a:t>, and fix vulnerabilities early with fast patches. If we wait, we risk higher costs, greater chances of being attacked, and more instability. If we act now, we save time, money, and protect our systems and reputation.</a:t>
            </a:r>
          </a:p>
          <a:p>
            <a:pPr marL="0" lvl="0" indent="0" algn="l" rtl="0">
              <a:lnSpc>
                <a:spcPct val="100000"/>
              </a:lnSpc>
              <a:spcBef>
                <a:spcPts val="0"/>
              </a:spcBef>
              <a:spcAft>
                <a:spcPts val="0"/>
              </a:spcAft>
              <a:buSzPts val="1100"/>
              <a:buNone/>
            </a:pPr>
            <a:endParaRPr dirty="0"/>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800" dirty="0">
                <a:effectLst/>
                <a:latin typeface="Calibri" panose="020F0502020204030204" pitchFamily="34" charset="0"/>
                <a:ea typeface="Calibri" panose="020F0502020204030204" pitchFamily="34" charset="0"/>
              </a:rPr>
              <a:t>Our recommendations are clear. Continue using static analysis tools like Cppcheck and Clang Tidy throughout all stages of development. Expand unit testing with </a:t>
            </a:r>
            <a:r>
              <a:rPr lang="en-US" sz="1800" dirty="0" err="1">
                <a:effectLst/>
                <a:latin typeface="Calibri" panose="020F0502020204030204" pitchFamily="34" charset="0"/>
                <a:ea typeface="Calibri" panose="020F0502020204030204" pitchFamily="34" charset="0"/>
              </a:rPr>
              <a:t>GoogleTest</a:t>
            </a:r>
            <a:r>
              <a:rPr lang="en-US" sz="1800" dirty="0">
                <a:effectLst/>
                <a:latin typeface="Calibri" panose="020F0502020204030204" pitchFamily="34" charset="0"/>
                <a:ea typeface="Calibri" panose="020F0502020204030204" pitchFamily="34" charset="0"/>
              </a:rPr>
              <a:t> to cover more edge cases, like empty inputs, maximum string lengths, and invalid pointers. Add fuzz testing tools to automatically throw random inputs at the code to find hidden bugs. Make sure the compiler uses strong security settings like stack protection and warnings-as-errors. Automate penetration testing before every release. And review and update our security policies every six months to stay ahead of new threats.</a:t>
            </a:r>
          </a:p>
          <a:p>
            <a:pPr marL="0" lvl="0" indent="0" algn="l" rtl="0">
              <a:lnSpc>
                <a:spcPct val="100000"/>
              </a:lnSpc>
              <a:spcBef>
                <a:spcPts val="0"/>
              </a:spcBef>
              <a:spcAft>
                <a:spcPts val="0"/>
              </a:spcAft>
              <a:buSzPts val="1100"/>
              <a:buNone/>
            </a:pPr>
            <a:endParaRPr dirty="0"/>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800" dirty="0">
                <a:effectLst/>
                <a:latin typeface="Calibri" panose="020F0502020204030204" pitchFamily="34" charset="0"/>
                <a:ea typeface="Calibri" panose="020F0502020204030204" pitchFamily="34" charset="0"/>
              </a:rPr>
              <a:t>In conclusion, fixing vulnerabilities early saves time, reduces costs, and protects the company’s reputation. Secure coding is not a one-time event. It must be part of every design, build, and testing cycle. Using static analysis, unit testing, fuzz testing, and log monitoring makes security automatic and reliable. Following this plan will protect our users, defend our data, and build stronger systems in the future.</a:t>
            </a:r>
          </a:p>
          <a:p>
            <a:pPr marL="0" lvl="0" indent="0" algn="l" rtl="0">
              <a:lnSpc>
                <a:spcPct val="100000"/>
              </a:lnSpc>
              <a:spcBef>
                <a:spcPts val="0"/>
              </a:spcBef>
              <a:spcAft>
                <a:spcPts val="0"/>
              </a:spcAft>
              <a:buSzPts val="1100"/>
              <a:buNone/>
            </a:pPr>
            <a:endParaRPr dirty="0"/>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audio" Target="../media/media1.m4a"/><Relationship Id="rId7" Type="http://schemas.openxmlformats.org/officeDocument/2006/relationships/image" Target="../media/image4.png"/><Relationship Id="rId2" Type="http://schemas.microsoft.com/office/2007/relationships/media" Target="../media/media1.m4a"/><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2.m4a"/><Relationship Id="rId7" Type="http://schemas.openxmlformats.org/officeDocument/2006/relationships/image" Target="../media/image7.png"/><Relationship Id="rId2" Type="http://schemas.microsoft.com/office/2007/relationships/media" Target="../media/media2.m4a"/><Relationship Id="rId1" Type="http://schemas.openxmlformats.org/officeDocument/2006/relationships/tags" Target="../tags/tag3.xml"/><Relationship Id="rId6" Type="http://schemas.openxmlformats.org/officeDocument/2006/relationships/image" Target="../media/image6.png"/><Relationship Id="rId5" Type="http://schemas.openxmlformats.org/officeDocument/2006/relationships/notesSlide" Target="../notesSlides/notesSlide2.xml"/><Relationship Id="rId4" Type="http://schemas.openxmlformats.org/officeDocument/2006/relationships/slideLayout" Target="../slideLayouts/slideLayout2.xml"/><Relationship Id="rId9"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3.m4a"/><Relationship Id="rId7" Type="http://schemas.openxmlformats.org/officeDocument/2006/relationships/image" Target="../media/image9.jpeg"/><Relationship Id="rId2" Type="http://schemas.microsoft.com/office/2007/relationships/media" Target="../media/media3.m4a"/><Relationship Id="rId1" Type="http://schemas.openxmlformats.org/officeDocument/2006/relationships/tags" Target="../tags/tag4.xml"/><Relationship Id="rId6" Type="http://schemas.openxmlformats.org/officeDocument/2006/relationships/image" Target="../media/image8.png"/><Relationship Id="rId5" Type="http://schemas.openxmlformats.org/officeDocument/2006/relationships/notesSlide" Target="../notesSlides/notesSlide3.xml"/><Relationship Id="rId4" Type="http://schemas.openxmlformats.org/officeDocument/2006/relationships/slideLayout" Target="../slideLayouts/slideLayout2.xml"/><Relationship Id="rId9"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audio" Target="../media/media4.m4a"/><Relationship Id="rId7" Type="http://schemas.openxmlformats.org/officeDocument/2006/relationships/image" Target="../media/image5.png"/><Relationship Id="rId2" Type="http://schemas.microsoft.com/office/2007/relationships/media" Target="../media/media4.m4a"/><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audio" Target="../media/media5.m4a"/><Relationship Id="rId7" Type="http://schemas.openxmlformats.org/officeDocument/2006/relationships/image" Target="../media/image5.png"/><Relationship Id="rId2" Type="http://schemas.microsoft.com/office/2007/relationships/media" Target="../media/media5.m4a"/><Relationship Id="rId1" Type="http://schemas.openxmlformats.org/officeDocument/2006/relationships/tags" Target="../tags/tag6.xml"/><Relationship Id="rId6" Type="http://schemas.openxmlformats.org/officeDocument/2006/relationships/image" Target="../media/image4.png"/><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audio" Target="../media/media6.m4a"/><Relationship Id="rId7" Type="http://schemas.openxmlformats.org/officeDocument/2006/relationships/image" Target="../media/image5.png"/><Relationship Id="rId2" Type="http://schemas.microsoft.com/office/2007/relationships/media" Target="../media/media6.m4a"/><Relationship Id="rId1" Type="http://schemas.openxmlformats.org/officeDocument/2006/relationships/tags" Target="../tags/tag7.xml"/><Relationship Id="rId6" Type="http://schemas.openxmlformats.org/officeDocument/2006/relationships/image" Target="../media/image4.png"/><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audio" Target="../media/media7.m4a"/><Relationship Id="rId7" Type="http://schemas.openxmlformats.org/officeDocument/2006/relationships/image" Target="../media/image5.png"/><Relationship Id="rId2" Type="http://schemas.microsoft.com/office/2007/relationships/media" Target="../media/media7.m4a"/><Relationship Id="rId1" Type="http://schemas.openxmlformats.org/officeDocument/2006/relationships/tags" Target="../tags/tag8.xml"/><Relationship Id="rId6" Type="http://schemas.openxmlformats.org/officeDocument/2006/relationships/image" Target="../media/image4.png"/><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audio" Target="../media/media8.m4a"/><Relationship Id="rId7" Type="http://schemas.openxmlformats.org/officeDocument/2006/relationships/image" Target="../media/image4.png"/><Relationship Id="rId2" Type="http://schemas.microsoft.com/office/2007/relationships/media" Target="../media/media8.m4a"/><Relationship Id="rId1" Type="http://schemas.openxmlformats.org/officeDocument/2006/relationships/tags" Target="../tags/tag9.xml"/><Relationship Id="rId6" Type="http://schemas.openxmlformats.org/officeDocument/2006/relationships/image" Target="../media/image10.jpeg"/><Relationship Id="rId5" Type="http://schemas.openxmlformats.org/officeDocument/2006/relationships/notesSlide" Target="../notesSlides/notesSlide8.xml"/><Relationship Id="rId10" Type="http://schemas.openxmlformats.org/officeDocument/2006/relationships/image" Target="../media/image5.png"/><Relationship Id="rId4" Type="http://schemas.openxmlformats.org/officeDocument/2006/relationships/slideLayout" Target="../slideLayouts/slideLayout2.xml"/><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7.xml"/><Relationship Id="rId7" Type="http://schemas.openxmlformats.org/officeDocument/2006/relationships/image" Target="../media/image14.png"/><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13.png"/><Relationship Id="rId5" Type="http://schemas.openxmlformats.org/officeDocument/2006/relationships/image" Target="../media/image10.jpeg"/><Relationship Id="rId4" Type="http://schemas.openxmlformats.org/officeDocument/2006/relationships/notesSlide" Target="../notesSlides/notesSlide9.xml"/><Relationship Id="rId9" Type="http://schemas.openxmlformats.org/officeDocument/2006/relationships/image" Target="../media/image5.png"/></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slideLayout" Target="../slideLayouts/slideLayout7.xml"/><Relationship Id="rId7" Type="http://schemas.openxmlformats.org/officeDocument/2006/relationships/image" Target="../media/image4.png"/><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image" Target="../media/image15.png"/><Relationship Id="rId5" Type="http://schemas.openxmlformats.org/officeDocument/2006/relationships/image" Target="../media/image10.jpeg"/><Relationship Id="rId4" Type="http://schemas.openxmlformats.org/officeDocument/2006/relationships/notesSlide" Target="../notesSlides/notesSlide10.xml"/><Relationship Id="rId9" Type="http://schemas.openxmlformats.org/officeDocument/2006/relationships/image" Target="../media/image5.png"/></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slideLayout" Target="../slideLayouts/slideLayout7.xml"/><Relationship Id="rId7" Type="http://schemas.openxmlformats.org/officeDocument/2006/relationships/image" Target="../media/image17.png"/><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image" Target="../media/image4.png"/><Relationship Id="rId5" Type="http://schemas.openxmlformats.org/officeDocument/2006/relationships/image" Target="../media/image10.jpeg"/><Relationship Id="rId4" Type="http://schemas.openxmlformats.org/officeDocument/2006/relationships/notesSlide" Target="../notesSlides/notesSlide11.xml"/><Relationship Id="rId9" Type="http://schemas.openxmlformats.org/officeDocument/2006/relationships/image" Target="../media/image5.png"/></Relationships>
</file>

<file path=ppt/slides/_rels/slide1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12.m4a"/><Relationship Id="rId7" Type="http://schemas.openxmlformats.org/officeDocument/2006/relationships/image" Target="../media/image20.png"/><Relationship Id="rId2" Type="http://schemas.microsoft.com/office/2007/relationships/media" Target="../media/media12.m4a"/><Relationship Id="rId1" Type="http://schemas.openxmlformats.org/officeDocument/2006/relationships/tags" Target="../tags/tag10.xml"/><Relationship Id="rId6" Type="http://schemas.openxmlformats.org/officeDocument/2006/relationships/image" Target="../media/image19.jpeg"/><Relationship Id="rId5" Type="http://schemas.openxmlformats.org/officeDocument/2006/relationships/notesSlide" Target="../notesSlides/notesSlide12.xml"/><Relationship Id="rId4" Type="http://schemas.openxmlformats.org/officeDocument/2006/relationships/slideLayout" Target="../slideLayouts/slideLayout2.xml"/><Relationship Id="rId9" Type="http://schemas.openxmlformats.org/officeDocument/2006/relationships/image" Target="../media/image5.png"/></Relationships>
</file>

<file path=ppt/slides/_rels/slide1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audio" Target="../media/media13.m4a"/><Relationship Id="rId7" Type="http://schemas.openxmlformats.org/officeDocument/2006/relationships/image" Target="../media/image4.png"/><Relationship Id="rId2" Type="http://schemas.microsoft.com/office/2007/relationships/media" Target="../media/media13.m4a"/><Relationship Id="rId1" Type="http://schemas.openxmlformats.org/officeDocument/2006/relationships/tags" Target="../tags/tag11.xml"/><Relationship Id="rId6" Type="http://schemas.openxmlformats.org/officeDocument/2006/relationships/image" Target="../media/image21.jpeg"/><Relationship Id="rId5" Type="http://schemas.openxmlformats.org/officeDocument/2006/relationships/notesSlide" Target="../notesSlides/notesSlide13.xml"/><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audio" Target="../media/media14.m4a"/><Relationship Id="rId7" Type="http://schemas.openxmlformats.org/officeDocument/2006/relationships/image" Target="../media/image4.png"/><Relationship Id="rId2" Type="http://schemas.microsoft.com/office/2007/relationships/media" Target="../media/media14.m4a"/><Relationship Id="rId1" Type="http://schemas.openxmlformats.org/officeDocument/2006/relationships/tags" Target="../tags/tag12.xml"/><Relationship Id="rId6" Type="http://schemas.openxmlformats.org/officeDocument/2006/relationships/image" Target="../media/image22.png"/><Relationship Id="rId5" Type="http://schemas.openxmlformats.org/officeDocument/2006/relationships/notesSlide" Target="../notesSlides/notesSlide14.xml"/><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audio" Target="../media/media15.m4a"/><Relationship Id="rId7" Type="http://schemas.openxmlformats.org/officeDocument/2006/relationships/image" Target="../media/image4.png"/><Relationship Id="rId2" Type="http://schemas.microsoft.com/office/2007/relationships/media" Target="../media/media15.m4a"/><Relationship Id="rId1" Type="http://schemas.openxmlformats.org/officeDocument/2006/relationships/tags" Target="../tags/tag13.xml"/><Relationship Id="rId6" Type="http://schemas.openxmlformats.org/officeDocument/2006/relationships/image" Target="../media/image23.png"/><Relationship Id="rId5" Type="http://schemas.openxmlformats.org/officeDocument/2006/relationships/notesSlide" Target="../notesSlides/notesSlide15.xml"/><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hyperlink" Target="https://google.github.io/googletest/" TargetMode="External"/><Relationship Id="rId3" Type="http://schemas.openxmlformats.org/officeDocument/2006/relationships/notesSlide" Target="../notesSlides/notesSlide16.xml"/><Relationship Id="rId7" Type="http://schemas.openxmlformats.org/officeDocument/2006/relationships/hyperlink" Target="https://clang.llvm.org/extra/clang-tidy/" TargetMode="External"/><Relationship Id="rId2" Type="http://schemas.openxmlformats.org/officeDocument/2006/relationships/slideLayout" Target="../slideLayouts/slideLayout2.xml"/><Relationship Id="rId1" Type="http://schemas.openxmlformats.org/officeDocument/2006/relationships/tags" Target="../tags/tag14.xml"/><Relationship Id="rId6" Type="http://schemas.openxmlformats.org/officeDocument/2006/relationships/hyperlink" Target="https://cppcheck.sourceforge.io/" TargetMode="External"/><Relationship Id="rId5" Type="http://schemas.openxmlformats.org/officeDocument/2006/relationships/image" Target="../media/image4.png"/><Relationship Id="rId10" Type="http://schemas.openxmlformats.org/officeDocument/2006/relationships/hyperlink" Target="https://www.sonarsource.com/products/sonarqube/" TargetMode="External"/><Relationship Id="rId4" Type="http://schemas.openxmlformats.org/officeDocument/2006/relationships/image" Target="../media/image24.jpeg"/><Relationship Id="rId9" Type="http://schemas.openxmlformats.org/officeDocument/2006/relationships/hyperlink" Target="https://wiki.sei.cmu.edu/confluence/pages/viewpage.action?pageId=8804668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pic>
        <p:nvPicPr>
          <p:cNvPr id="4" name="Picture 3">
            <a:extLst>
              <a:ext uri="{FF2B5EF4-FFF2-40B4-BE49-F238E27FC236}">
                <a16:creationId xmlns:a16="http://schemas.microsoft.com/office/drawing/2014/main" id="{F7F9BB65-4F36-CBE2-680E-CA5ECE57A572}"/>
              </a:ext>
            </a:extLst>
          </p:cNvPr>
          <p:cNvPicPr>
            <a:picLocks noChangeAspect="1"/>
          </p:cNvPicPr>
          <p:nvPr/>
        </p:nvPicPr>
        <p:blipFill>
          <a:blip r:embed="rId6"/>
          <a:stretch>
            <a:fillRect/>
          </a:stretch>
        </p:blipFill>
        <p:spPr>
          <a:xfrm>
            <a:off x="0" y="-1"/>
            <a:ext cx="12192000" cy="6841169"/>
          </a:xfrm>
          <a:prstGeom prst="rect">
            <a:avLst/>
          </a:prstGeom>
        </p:spPr>
      </p:pic>
      <p:sp>
        <p:nvSpPr>
          <p:cNvPr id="144" name="Google Shape;144;p1"/>
          <p:cNvSpPr txBox="1">
            <a:spLocks noGrp="1"/>
          </p:cNvSpPr>
          <p:nvPr>
            <p:ph type="ctrTitle"/>
          </p:nvPr>
        </p:nvSpPr>
        <p:spPr>
          <a:xfrm>
            <a:off x="1371600" y="1183492"/>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dirty="0">
                <a:solidFill>
                  <a:srgbClr val="689550"/>
                </a:solidFill>
                <a:effectLst>
                  <a:glow rad="698500">
                    <a:srgbClr val="196028">
                      <a:alpha val="80000"/>
                    </a:srgbClr>
                  </a:glow>
                </a:effectLst>
                <a:latin typeface="Consolas" panose="020B0609020204030204" pitchFamily="49" charset="0"/>
              </a:rPr>
              <a:t>Green Pace</a:t>
            </a:r>
            <a:endParaRPr dirty="0">
              <a:solidFill>
                <a:srgbClr val="689550"/>
              </a:solidFill>
              <a:effectLst>
                <a:glow rad="698500">
                  <a:srgbClr val="196028">
                    <a:alpha val="80000"/>
                  </a:srgbClr>
                </a:glow>
              </a:effectLst>
              <a:latin typeface="Consolas" panose="020B0609020204030204" pitchFamily="49" charset="0"/>
            </a:endParaRPr>
          </a:p>
        </p:txBody>
      </p:sp>
      <p:sp>
        <p:nvSpPr>
          <p:cNvPr id="145" name="Google Shape;145;p1"/>
          <p:cNvSpPr txBox="1">
            <a:spLocks noGrp="1"/>
          </p:cNvSpPr>
          <p:nvPr>
            <p:ph type="subTitle" idx="1"/>
          </p:nvPr>
        </p:nvSpPr>
        <p:spPr>
          <a:xfrm>
            <a:off x="1371600" y="320863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effectLst>
                  <a:glow rad="381000">
                    <a:srgbClr val="021B15"/>
                  </a:glow>
                </a:effectLst>
                <a:latin typeface="Consolas" panose="020B0609020204030204" pitchFamily="49" charset="0"/>
              </a:rPr>
              <a:t>Security Policy Presentation</a:t>
            </a:r>
            <a:endParaRPr dirty="0">
              <a:effectLst>
                <a:glow rad="381000">
                  <a:srgbClr val="021B15"/>
                </a:glow>
              </a:effectLst>
              <a:latin typeface="Consolas" panose="020B0609020204030204" pitchFamily="49" charset="0"/>
            </a:endParaRPr>
          </a:p>
          <a:p>
            <a:pPr marL="0" lvl="0" indent="0" algn="l" rtl="0">
              <a:lnSpc>
                <a:spcPct val="70000"/>
              </a:lnSpc>
              <a:spcBef>
                <a:spcPts val="1000"/>
              </a:spcBef>
              <a:spcAft>
                <a:spcPts val="0"/>
              </a:spcAft>
              <a:buClr>
                <a:schemeClr val="lt1"/>
              </a:buClr>
              <a:buSzPts val="1850"/>
              <a:buNone/>
            </a:pPr>
            <a:r>
              <a:rPr lang="en-US" sz="1850" dirty="0">
                <a:effectLst>
                  <a:glow rad="381000">
                    <a:srgbClr val="021B15"/>
                  </a:glow>
                </a:effectLst>
                <a:latin typeface="Consolas" panose="020B0609020204030204" pitchFamily="49" charset="0"/>
              </a:rPr>
              <a:t>Developer: </a:t>
            </a:r>
            <a:r>
              <a:rPr lang="en-US" sz="1850" i="1" dirty="0">
                <a:effectLst>
                  <a:glow rad="381000">
                    <a:srgbClr val="021B15"/>
                  </a:glow>
                </a:effectLst>
                <a:latin typeface="Consolas" panose="020B0609020204030204" pitchFamily="49" charset="0"/>
              </a:rPr>
              <a:t>Andrew Nelson</a:t>
            </a:r>
            <a:endParaRPr dirty="0">
              <a:effectLst>
                <a:glow rad="381000">
                  <a:srgbClr val="021B15"/>
                </a:glow>
              </a:effectLst>
              <a:latin typeface="Consolas" panose="020B0609020204030204" pitchFamily="49" charset="0"/>
            </a:endParaRPr>
          </a:p>
          <a:p>
            <a:pPr marL="0" lvl="0" indent="0" algn="l" rtl="0">
              <a:lnSpc>
                <a:spcPct val="70000"/>
              </a:lnSpc>
              <a:spcBef>
                <a:spcPts val="1000"/>
              </a:spcBef>
              <a:spcAft>
                <a:spcPts val="0"/>
              </a:spcAft>
              <a:buClr>
                <a:schemeClr val="lt1"/>
              </a:buClr>
              <a:buSzPts val="1850"/>
              <a:buNone/>
            </a:pPr>
            <a:endParaRPr sz="1850" i="1" dirty="0">
              <a:effectLst>
                <a:glow rad="381000">
                  <a:srgbClr val="021B15"/>
                </a:glow>
              </a:effectLst>
              <a:latin typeface="Consolas" panose="020B0609020204030204" pitchFamily="49" charset="0"/>
            </a:endParaRPr>
          </a:p>
          <a:p>
            <a:pPr marL="0" lvl="0" indent="0" algn="l" rtl="0">
              <a:lnSpc>
                <a:spcPct val="70000"/>
              </a:lnSpc>
              <a:spcBef>
                <a:spcPts val="1000"/>
              </a:spcBef>
              <a:spcAft>
                <a:spcPts val="0"/>
              </a:spcAft>
              <a:buSzPts val="1850"/>
              <a:buNone/>
            </a:pPr>
            <a:r>
              <a:rPr lang="en-US" b="1" dirty="0">
                <a:effectLst>
                  <a:glow rad="381000">
                    <a:srgbClr val="021B15"/>
                  </a:glow>
                </a:effectLst>
                <a:latin typeface="Consolas" panose="020B0609020204030204" pitchFamily="49" charset="0"/>
              </a:rPr>
              <a:t>"Security is a process, not a product.“   </a:t>
            </a:r>
            <a:r>
              <a:rPr lang="en-US" dirty="0">
                <a:effectLst>
                  <a:glow rad="381000">
                    <a:srgbClr val="021B15"/>
                  </a:glow>
                </a:effectLst>
                <a:latin typeface="Consolas" panose="020B0609020204030204" pitchFamily="49" charset="0"/>
              </a:rPr>
              <a:t>— Bruce Schneier</a:t>
            </a:r>
            <a:endParaRPr i="1" dirty="0">
              <a:effectLst>
                <a:glow rad="381000">
                  <a:srgbClr val="021B15"/>
                </a:glow>
              </a:effectLst>
              <a:latin typeface="Consolas" panose="020B0609020204030204" pitchFamily="49" charset="0"/>
            </a:endParaRPr>
          </a:p>
        </p:txBody>
      </p:sp>
      <p:pic>
        <p:nvPicPr>
          <p:cNvPr id="146" name="Google Shape;146;p1" descr="Green Pace logo"/>
          <p:cNvPicPr preferRelativeResize="0"/>
          <p:nvPr/>
        </p:nvPicPr>
        <p:blipFill>
          <a:blip r:embed="rId7">
            <a:alphaModFix/>
          </a:blip>
          <a:stretch>
            <a:fillRect/>
          </a:stretch>
        </p:blipFill>
        <p:spPr>
          <a:xfrm>
            <a:off x="7452805" y="202654"/>
            <a:ext cx="2921424" cy="3786772"/>
          </a:xfrm>
          <a:prstGeom prst="rect">
            <a:avLst/>
          </a:prstGeom>
          <a:noFill/>
          <a:ln>
            <a:noFill/>
          </a:ln>
          <a:effectLst>
            <a:glow rad="381000">
              <a:srgbClr val="196028">
                <a:alpha val="70000"/>
              </a:srgbClr>
            </a:glow>
          </a:effectLst>
        </p:spPr>
      </p:pic>
      <p:pic>
        <p:nvPicPr>
          <p:cNvPr id="23" name="Audio 22">
            <a:hlinkClick r:id="" action="ppaction://media"/>
            <a:extLst>
              <a:ext uri="{FF2B5EF4-FFF2-40B4-BE49-F238E27FC236}">
                <a16:creationId xmlns:a16="http://schemas.microsoft.com/office/drawing/2014/main" id="{6CD7B603-49B9-CDA7-3A6F-B1B9566B9015}"/>
              </a:ext>
            </a:extLst>
          </p:cNvPr>
          <p:cNvPicPr>
            <a:picLocks noChangeAspect="1"/>
          </p:cNvPicPr>
          <p:nvPr>
            <a:audioFile r:link="rId3"/>
            <p:extLst>
              <p:ext uri="{DAA4B4D4-6D71-4841-9C94-3DE7FCFB9230}">
                <p14:media xmlns:p14="http://schemas.microsoft.com/office/powerpoint/2010/main" r:embed="rId2"/>
              </p:ext>
            </p:extLst>
          </p:nvPr>
        </p:nvPicPr>
        <p:blipFill>
          <a:blip r:embed="rId8"/>
          <a:srcRect l="-118750" t="-118750" r="-118750" b="-118750"/>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0967"/>
    </mc:Choice>
    <mc:Fallback xmlns="">
      <p:transition spd="slow" advTm="2096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pic>
        <p:nvPicPr>
          <p:cNvPr id="2" name="Picture 1">
            <a:extLst>
              <a:ext uri="{FF2B5EF4-FFF2-40B4-BE49-F238E27FC236}">
                <a16:creationId xmlns:a16="http://schemas.microsoft.com/office/drawing/2014/main" id="{699CE562-5A38-D566-05DA-0F5994901E5C}"/>
              </a:ext>
            </a:extLst>
          </p:cNvPr>
          <p:cNvPicPr>
            <a:picLocks noChangeAspect="1"/>
          </p:cNvPicPr>
          <p:nvPr/>
        </p:nvPicPr>
        <p:blipFill>
          <a:blip r:embed="rId6"/>
          <a:stretch>
            <a:fillRect/>
          </a:stretch>
        </p:blipFill>
        <p:spPr>
          <a:xfrm>
            <a:off x="0" y="-7200"/>
            <a:ext cx="12192000" cy="6865199"/>
          </a:xfrm>
          <a:prstGeom prst="rect">
            <a:avLst/>
          </a:prstGeom>
        </p:spPr>
      </p:pic>
      <p:sp>
        <p:nvSpPr>
          <p:cNvPr id="151" name="Google Shape;151;p3"/>
          <p:cNvSpPr txBox="1">
            <a:spLocks noGrp="1"/>
          </p:cNvSpPr>
          <p:nvPr>
            <p:ph type="title"/>
          </p:nvPr>
        </p:nvSpPr>
        <p:spPr>
          <a:xfrm>
            <a:off x="1199147" y="-7199"/>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effectLst>
                  <a:glow rad="190500">
                    <a:srgbClr val="15A0E6">
                      <a:alpha val="70000"/>
                    </a:srgbClr>
                  </a:glow>
                </a:effectLst>
                <a:latin typeface="Consolas" panose="020B0609020204030204" pitchFamily="49" charset="0"/>
              </a:rPr>
              <a:t>OVERVIEW: DEFENSE IN DEPTH</a:t>
            </a:r>
            <a:endParaRPr dirty="0">
              <a:effectLst>
                <a:glow rad="190500">
                  <a:srgbClr val="15A0E6">
                    <a:alpha val="70000"/>
                  </a:srgbClr>
                </a:glow>
              </a:effectLst>
              <a:latin typeface="Consolas" panose="020B0609020204030204" pitchFamily="49" charset="0"/>
            </a:endParaRPr>
          </a:p>
        </p:txBody>
      </p:sp>
      <p:sp>
        <p:nvSpPr>
          <p:cNvPr id="152" name="Google Shape;152;p3"/>
          <p:cNvSpPr txBox="1">
            <a:spLocks noGrp="1"/>
          </p:cNvSpPr>
          <p:nvPr>
            <p:ph type="body" idx="1"/>
          </p:nvPr>
        </p:nvSpPr>
        <p:spPr>
          <a:xfrm>
            <a:off x="-198867" y="1528011"/>
            <a:ext cx="5011499" cy="5329989"/>
          </a:xfrm>
          <a:prstGeom prst="rect">
            <a:avLst/>
          </a:prstGeom>
          <a:noFill/>
          <a:ln>
            <a:noFill/>
          </a:ln>
        </p:spPr>
        <p:txBody>
          <a:bodyPr spcFirstLastPara="1" wrap="square" lIns="91425" tIns="45700" rIns="91425" bIns="45700" anchor="t" anchorCtr="0">
            <a:normAutofit fontScale="77500" lnSpcReduction="20000"/>
          </a:bodyPr>
          <a:lstStyle/>
          <a:p>
            <a:pPr marL="685800" lvl="0" indent="0" algn="l" rtl="0">
              <a:lnSpc>
                <a:spcPct val="120000"/>
              </a:lnSpc>
              <a:spcBef>
                <a:spcPts val="600"/>
              </a:spcBef>
              <a:spcAft>
                <a:spcPts val="600"/>
              </a:spcAft>
              <a:buSzPts val="1800"/>
              <a:buNone/>
            </a:pPr>
            <a:r>
              <a:rPr lang="en-US" dirty="0">
                <a:latin typeface="Consolas" panose="020B0609020204030204" pitchFamily="49" charset="0"/>
              </a:rPr>
              <a:t>The Green Pace Security Policy was made to help protect our software from new threats that happen as technology grows. As more people join the team, it is important to have clear rules, so everyone stays on the same page and builds secure code. Without a strong policy, it would be easy to miss things that hackers could use to attack us. This policy makes sure we think about security right from the start, not just at the end. It follows the defense in depth idea by adding many layers of protection, like secure coding, testing tools, encryption, and system checks, to make our software safer.</a:t>
            </a:r>
            <a:endParaRPr dirty="0">
              <a:latin typeface="Consolas" panose="020B0609020204030204" pitchFamily="49" charset="0"/>
            </a:endParaRPr>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7">
            <a:alphaModFix/>
          </a:blip>
          <a:srcRect/>
          <a:stretch/>
        </p:blipFill>
        <p:spPr>
          <a:xfrm>
            <a:off x="5242906" y="2091945"/>
            <a:ext cx="5410894" cy="3797196"/>
          </a:xfrm>
          <a:prstGeom prst="rect">
            <a:avLst/>
          </a:prstGeom>
          <a:noFill/>
          <a:ln>
            <a:noFill/>
          </a:ln>
        </p:spPr>
      </p:pic>
      <p:pic>
        <p:nvPicPr>
          <p:cNvPr id="154" name="Google Shape;154;p3" descr="Green Pace logo"/>
          <p:cNvPicPr preferRelativeResize="0"/>
          <p:nvPr/>
        </p:nvPicPr>
        <p:blipFill>
          <a:blip r:embed="rId8">
            <a:alphaModFix/>
          </a:blip>
          <a:stretch>
            <a:fillRect/>
          </a:stretch>
        </p:blipFill>
        <p:spPr>
          <a:xfrm>
            <a:off x="11084074" y="5440526"/>
            <a:ext cx="886601" cy="1149225"/>
          </a:xfrm>
          <a:prstGeom prst="rect">
            <a:avLst/>
          </a:prstGeom>
          <a:noFill/>
          <a:ln>
            <a:noFill/>
          </a:ln>
        </p:spPr>
      </p:pic>
      <p:pic>
        <p:nvPicPr>
          <p:cNvPr id="25" name="Audio 24">
            <a:hlinkClick r:id="" action="ppaction://media"/>
            <a:extLst>
              <a:ext uri="{FF2B5EF4-FFF2-40B4-BE49-F238E27FC236}">
                <a16:creationId xmlns:a16="http://schemas.microsoft.com/office/drawing/2014/main" id="{1D2401D5-D041-095A-00BB-29E480D42E8E}"/>
              </a:ext>
            </a:extLst>
          </p:cNvPr>
          <p:cNvPicPr>
            <a:picLocks noChangeAspect="1"/>
          </p:cNvPicPr>
          <p:nvPr>
            <a:audioFile r:link="rId3"/>
            <p:extLst>
              <p:ext uri="{DAA4B4D4-6D71-4841-9C94-3DE7FCFB9230}">
                <p14:media xmlns:p14="http://schemas.microsoft.com/office/powerpoint/2010/main" r:embed="rId2"/>
              </p:ext>
            </p:extLst>
          </p:nvPr>
        </p:nvPicPr>
        <p:blipFill>
          <a:blip r:embed="rId9"/>
          <a:srcRect l="-118750" t="-118750" r="-118750" b="-118750"/>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6944"/>
    </mc:Choice>
    <mc:Fallback xmlns="">
      <p:transition spd="slow" advTm="3694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5"/>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pic>
        <p:nvPicPr>
          <p:cNvPr id="9" name="Picture 8">
            <a:extLst>
              <a:ext uri="{FF2B5EF4-FFF2-40B4-BE49-F238E27FC236}">
                <a16:creationId xmlns:a16="http://schemas.microsoft.com/office/drawing/2014/main" id="{190A0B9B-E3DE-2D07-8723-5B3C0C7DD9AC}"/>
              </a:ext>
            </a:extLst>
          </p:cNvPr>
          <p:cNvPicPr>
            <a:picLocks noChangeAspect="1"/>
          </p:cNvPicPr>
          <p:nvPr/>
        </p:nvPicPr>
        <p:blipFill>
          <a:blip r:embed="rId6"/>
          <a:stretch>
            <a:fillRect/>
          </a:stretch>
        </p:blipFill>
        <p:spPr>
          <a:xfrm>
            <a:off x="43912" y="0"/>
            <a:ext cx="12148087" cy="6858000"/>
          </a:xfrm>
          <a:prstGeom prst="rect">
            <a:avLst/>
          </a:prstGeom>
        </p:spPr>
      </p:pic>
      <p:sp>
        <p:nvSpPr>
          <p:cNvPr id="159" name="Google Shape;159;p4"/>
          <p:cNvSpPr txBox="1">
            <a:spLocks noGrp="1"/>
          </p:cNvSpPr>
          <p:nvPr>
            <p:ph type="title"/>
          </p:nvPr>
        </p:nvSpPr>
        <p:spPr>
          <a:xfrm>
            <a:off x="2915378" y="0"/>
            <a:ext cx="8610600" cy="129302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000"/>
              <a:buFont typeface="Century Gothic"/>
              <a:buNone/>
            </a:pPr>
            <a:r>
              <a:rPr lang="en-US" b="1" dirty="0">
                <a:effectLst>
                  <a:glow rad="635000">
                    <a:srgbClr val="B91C00">
                      <a:alpha val="50000"/>
                    </a:srgbClr>
                  </a:glow>
                </a:effectLst>
                <a:latin typeface="Consolas" panose="020B0609020204030204" pitchFamily="49" charset="0"/>
              </a:rPr>
              <a:t>THREATS MATRIX</a:t>
            </a:r>
            <a:endParaRPr b="1" dirty="0">
              <a:effectLst>
                <a:glow rad="635000">
                  <a:srgbClr val="B91C00">
                    <a:alpha val="50000"/>
                  </a:srgbClr>
                </a:glow>
              </a:effectLst>
              <a:latin typeface="Consolas" panose="020B0609020204030204" pitchFamily="49" charset="0"/>
            </a:endParaRPr>
          </a:p>
        </p:txBody>
      </p:sp>
      <p:graphicFrame>
        <p:nvGraphicFramePr>
          <p:cNvPr id="161" name="Google Shape;161;p4" descr="Alt text required"/>
          <p:cNvGraphicFramePr/>
          <p:nvPr>
            <p:extLst>
              <p:ext uri="{D42A27DB-BD31-4B8C-83A1-F6EECF244321}">
                <p14:modId xmlns:p14="http://schemas.microsoft.com/office/powerpoint/2010/main" val="982497600"/>
              </p:ext>
            </p:extLst>
          </p:nvPr>
        </p:nvGraphicFramePr>
        <p:xfrm>
          <a:off x="3135958" y="917592"/>
          <a:ext cx="8169441" cy="5662651"/>
        </p:xfrm>
        <a:graphic>
          <a:graphicData uri="http://schemas.openxmlformats.org/drawingml/2006/table">
            <a:tbl>
              <a:tblPr firstRow="1" firstCol="1">
                <a:noFill/>
                <a:tableStyleId>{802198C4-3087-4945-87E3-76CBB3509B7E}</a:tableStyleId>
              </a:tblPr>
              <a:tblGrid>
                <a:gridCol w="4131401">
                  <a:extLst>
                    <a:ext uri="{9D8B030D-6E8A-4147-A177-3AD203B41FA5}">
                      <a16:colId xmlns:a16="http://schemas.microsoft.com/office/drawing/2014/main" val="20000"/>
                    </a:ext>
                  </a:extLst>
                </a:gridCol>
                <a:gridCol w="4038040">
                  <a:extLst>
                    <a:ext uri="{9D8B030D-6E8A-4147-A177-3AD203B41FA5}">
                      <a16:colId xmlns:a16="http://schemas.microsoft.com/office/drawing/2014/main" val="20001"/>
                    </a:ext>
                  </a:extLst>
                </a:gridCol>
              </a:tblGrid>
              <a:tr h="2971492">
                <a:tc>
                  <a:txBody>
                    <a:bodyPr/>
                    <a:lstStyle/>
                    <a:p>
                      <a:pPr marL="0" marR="0" lvl="0" indent="0" algn="ctr" rtl="0">
                        <a:lnSpc>
                          <a:spcPct val="100000"/>
                        </a:lnSpc>
                        <a:spcBef>
                          <a:spcPts val="0"/>
                        </a:spcBef>
                        <a:spcAft>
                          <a:spcPts val="0"/>
                        </a:spcAft>
                        <a:buClr>
                          <a:srgbClr val="000000"/>
                        </a:buClr>
                        <a:buSzPts val="3600"/>
                        <a:buFont typeface="Arial"/>
                        <a:buNone/>
                      </a:pPr>
                      <a:r>
                        <a:rPr lang="en-US" sz="2400" u="none" strike="noStrike" cap="none" dirty="0">
                          <a:solidFill>
                            <a:srgbClr val="B91C00"/>
                          </a:solidFill>
                          <a:latin typeface="Consolas" panose="020B0609020204030204" pitchFamily="49" charset="0"/>
                        </a:rPr>
                        <a:t>Likely</a:t>
                      </a:r>
                    </a:p>
                    <a:p>
                      <a:pPr marL="0" marR="0" lvl="0" indent="0" algn="ctr" rtl="0">
                        <a:lnSpc>
                          <a:spcPct val="100000"/>
                        </a:lnSpc>
                        <a:spcBef>
                          <a:spcPts val="0"/>
                        </a:spcBef>
                        <a:spcAft>
                          <a:spcPts val="0"/>
                        </a:spcAft>
                        <a:buClr>
                          <a:srgbClr val="000000"/>
                        </a:buClr>
                        <a:buSzPts val="3600"/>
                        <a:buFont typeface="Arial"/>
                        <a:buNone/>
                      </a:pPr>
                      <a:endParaRPr lang="en-US" sz="1200" u="none" strike="noStrike" cap="none" dirty="0">
                        <a:solidFill>
                          <a:srgbClr val="FFD966"/>
                        </a:solidFill>
                        <a:latin typeface="Consolas" panose="020B0609020204030204" pitchFamily="49" charset="0"/>
                      </a:endParaRPr>
                    </a:p>
                    <a:p>
                      <a:pPr marL="0" marR="0" lvl="0" indent="0" algn="l" rtl="0">
                        <a:lnSpc>
                          <a:spcPct val="150000"/>
                        </a:lnSpc>
                        <a:spcBef>
                          <a:spcPts val="0"/>
                        </a:spcBef>
                        <a:spcAft>
                          <a:spcPts val="0"/>
                        </a:spcAft>
                        <a:buClr>
                          <a:srgbClr val="000000"/>
                        </a:buClr>
                        <a:buSzPts val="3600"/>
                        <a:buFont typeface="Arial"/>
                        <a:buNone/>
                      </a:pPr>
                      <a:r>
                        <a:rPr lang="en-US" sz="1200" b="1" dirty="0">
                          <a:latin typeface="Consolas" panose="020B0609020204030204" pitchFamily="49" charset="0"/>
                        </a:rPr>
                        <a:t>Unchecked input values:</a:t>
                      </a:r>
                      <a:r>
                        <a:rPr lang="en-US" sz="1200" dirty="0">
                          <a:latin typeface="Consolas" panose="020B0609020204030204" pitchFamily="49" charset="0"/>
                        </a:rPr>
                        <a:t> If user input is not checked, attackers can send bad data to crash or control the system. </a:t>
                      </a:r>
                      <a:br>
                        <a:rPr lang="en-US" sz="1200" dirty="0">
                          <a:latin typeface="Consolas" panose="020B0609020204030204" pitchFamily="49" charset="0"/>
                        </a:rPr>
                      </a:br>
                      <a:r>
                        <a:rPr lang="en-US" sz="1200" b="1" dirty="0">
                          <a:latin typeface="Consolas" panose="020B0609020204030204" pitchFamily="49" charset="0"/>
                        </a:rPr>
                        <a:t>Uninitialized pointers:</a:t>
                      </a:r>
                      <a:r>
                        <a:rPr lang="en-US" sz="1200" dirty="0">
                          <a:latin typeface="Consolas" panose="020B0609020204030204" pitchFamily="49" charset="0"/>
                        </a:rPr>
                        <a:t> A pointer that is not set can cause random behavior or crashes. </a:t>
                      </a:r>
                      <a:br>
                        <a:rPr lang="en-US" sz="1200" dirty="0">
                          <a:latin typeface="Consolas" panose="020B0609020204030204" pitchFamily="49" charset="0"/>
                        </a:rPr>
                      </a:br>
                      <a:r>
                        <a:rPr lang="en-US" sz="1200" b="1" dirty="0">
                          <a:latin typeface="Consolas" panose="020B0609020204030204" pitchFamily="49" charset="0"/>
                        </a:rPr>
                        <a:t>Unsafe type conversions:</a:t>
                      </a:r>
                      <a:r>
                        <a:rPr lang="en-US" sz="1200" dirty="0">
                          <a:latin typeface="Consolas" panose="020B0609020204030204" pitchFamily="49" charset="0"/>
                        </a:rPr>
                        <a:t> Changing one type of data into another without checking can lead to wrong results or crashes.</a:t>
                      </a:r>
                      <a:endParaRPr sz="1200" u="none" strike="noStrike" cap="none" dirty="0">
                        <a:latin typeface="Consolas" panose="020B0609020204030204" pitchFamily="49" charset="0"/>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tile tx="0" ty="0" sx="100000" sy="100000" flip="none" algn="tl"/>
                    </a:blip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2400" u="none" strike="noStrike" cap="none" dirty="0">
                          <a:solidFill>
                            <a:srgbClr val="B91C00"/>
                          </a:solidFill>
                          <a:latin typeface="Consolas" panose="020B0609020204030204" pitchFamily="49" charset="0"/>
                        </a:rPr>
                        <a:t>Priority</a:t>
                      </a:r>
                    </a:p>
                    <a:p>
                      <a:pPr marL="0" marR="0" lvl="0" indent="0" algn="l" rtl="0">
                        <a:lnSpc>
                          <a:spcPct val="150000"/>
                        </a:lnSpc>
                        <a:spcBef>
                          <a:spcPts val="0"/>
                        </a:spcBef>
                        <a:spcAft>
                          <a:spcPts val="0"/>
                        </a:spcAft>
                        <a:buClr>
                          <a:srgbClr val="000000"/>
                        </a:buClr>
                        <a:buSzPts val="3600"/>
                        <a:buFont typeface="Arial"/>
                        <a:buNone/>
                      </a:pPr>
                      <a:r>
                        <a:rPr lang="en-US" sz="1200" b="1" dirty="0">
                          <a:latin typeface="Consolas" panose="020B0609020204030204" pitchFamily="49" charset="0"/>
                        </a:rPr>
                        <a:t>Unsafe string functions:</a:t>
                      </a:r>
                      <a:r>
                        <a:rPr lang="en-US" sz="1200" dirty="0">
                          <a:latin typeface="Consolas" panose="020B0609020204030204" pitchFamily="49" charset="0"/>
                        </a:rPr>
                        <a:t> Attackers can overflow buffers and take control of the system. </a:t>
                      </a:r>
                      <a:br>
                        <a:rPr lang="en-US" sz="1200" dirty="0">
                          <a:latin typeface="Consolas" panose="020B0609020204030204" pitchFamily="49" charset="0"/>
                        </a:rPr>
                      </a:br>
                      <a:r>
                        <a:rPr lang="en-US" sz="1200" b="1" dirty="0">
                          <a:latin typeface="Consolas" panose="020B0609020204030204" pitchFamily="49" charset="0"/>
                        </a:rPr>
                        <a:t>SQL injection:</a:t>
                      </a:r>
                      <a:r>
                        <a:rPr lang="en-US" sz="1200" dirty="0">
                          <a:latin typeface="Consolas" panose="020B0609020204030204" pitchFamily="49" charset="0"/>
                        </a:rPr>
                        <a:t> Attackers can steal or change data in the database by sending bad input. </a:t>
                      </a:r>
                      <a:br>
                        <a:rPr lang="en-US" sz="1200" dirty="0">
                          <a:latin typeface="Consolas" panose="020B0609020204030204" pitchFamily="49" charset="0"/>
                        </a:rPr>
                      </a:br>
                      <a:r>
                        <a:rPr lang="en-US" sz="1200" b="1" dirty="0">
                          <a:latin typeface="Consolas" panose="020B0609020204030204" pitchFamily="49" charset="0"/>
                        </a:rPr>
                        <a:t>Bad memory management:</a:t>
                      </a:r>
                      <a:r>
                        <a:rPr lang="en-US" sz="1200" dirty="0">
                          <a:latin typeface="Consolas" panose="020B0609020204030204" pitchFamily="49" charset="0"/>
                        </a:rPr>
                        <a:t> Poor handling of memory can cause crashes, leaks, or allow attackers to take over the system. </a:t>
                      </a:r>
                      <a:br>
                        <a:rPr lang="en-US" sz="1200" dirty="0">
                          <a:latin typeface="Consolas" panose="020B0609020204030204" pitchFamily="49" charset="0"/>
                        </a:rPr>
                      </a:br>
                      <a:r>
                        <a:rPr lang="en-US" sz="1200" b="1" dirty="0">
                          <a:latin typeface="Consolas" panose="020B0609020204030204" pitchFamily="49" charset="0"/>
                        </a:rPr>
                        <a:t>Dangling pointers:</a:t>
                      </a:r>
                      <a:r>
                        <a:rPr lang="en-US" sz="1200" dirty="0">
                          <a:latin typeface="Consolas" panose="020B0609020204030204" pitchFamily="49" charset="0"/>
                        </a:rPr>
                        <a:t> Using memory that was already freed can lead to crashes or hacks.</a:t>
                      </a:r>
                      <a:endParaRPr sz="1200" u="none" strike="noStrike" cap="none" dirty="0">
                        <a:latin typeface="Consolas" panose="020B0609020204030204" pitchFamily="49" charset="0"/>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tile tx="0" ty="0" sx="100000" sy="100000" flip="none" algn="tl"/>
                    </a:blipFill>
                  </a:tcPr>
                </a:tc>
                <a:extLst>
                  <a:ext uri="{0D108BD9-81ED-4DB2-BD59-A6C34878D82A}">
                    <a16:rowId xmlns:a16="http://schemas.microsoft.com/office/drawing/2014/main" val="10000"/>
                  </a:ext>
                </a:extLst>
              </a:tr>
              <a:tr h="2400241">
                <a:tc>
                  <a:txBody>
                    <a:bodyPr/>
                    <a:lstStyle/>
                    <a:p>
                      <a:pPr marL="0" marR="0" lvl="0" indent="0" algn="ctr" rtl="0">
                        <a:lnSpc>
                          <a:spcPct val="100000"/>
                        </a:lnSpc>
                        <a:spcBef>
                          <a:spcPts val="0"/>
                        </a:spcBef>
                        <a:spcAft>
                          <a:spcPts val="0"/>
                        </a:spcAft>
                        <a:buClr>
                          <a:srgbClr val="000000"/>
                        </a:buClr>
                        <a:buSzPts val="3600"/>
                        <a:buFont typeface="Arial"/>
                        <a:buNone/>
                      </a:pPr>
                      <a:r>
                        <a:rPr lang="en-US" sz="2400" u="none" strike="noStrike" cap="none" dirty="0">
                          <a:solidFill>
                            <a:srgbClr val="B91C00"/>
                          </a:solidFill>
                          <a:latin typeface="Consolas" panose="020B0609020204030204" pitchFamily="49" charset="0"/>
                        </a:rPr>
                        <a:t>Low priority</a:t>
                      </a:r>
                    </a:p>
                    <a:p>
                      <a:pPr marL="0" marR="0" lvl="0" indent="0" algn="ctr" rtl="0">
                        <a:lnSpc>
                          <a:spcPct val="100000"/>
                        </a:lnSpc>
                        <a:spcBef>
                          <a:spcPts val="0"/>
                        </a:spcBef>
                        <a:spcAft>
                          <a:spcPts val="0"/>
                        </a:spcAft>
                        <a:buClr>
                          <a:srgbClr val="000000"/>
                        </a:buClr>
                        <a:buSzPts val="3600"/>
                        <a:buFont typeface="Arial"/>
                        <a:buNone/>
                      </a:pPr>
                      <a:endParaRPr sz="1400" u="none" strike="noStrike" cap="none" dirty="0">
                        <a:latin typeface="Consolas" panose="020B0609020204030204" pitchFamily="49" charset="0"/>
                      </a:endParaRPr>
                    </a:p>
                    <a:p>
                      <a:pPr marL="0" marR="0" lvl="0" indent="0" algn="l" rtl="0">
                        <a:lnSpc>
                          <a:spcPct val="150000"/>
                        </a:lnSpc>
                        <a:spcBef>
                          <a:spcPts val="0"/>
                        </a:spcBef>
                        <a:spcAft>
                          <a:spcPts val="0"/>
                        </a:spcAft>
                        <a:buClr>
                          <a:srgbClr val="000000"/>
                        </a:buClr>
                        <a:buSzPts val="3600"/>
                        <a:buFont typeface="Arial"/>
                        <a:buNone/>
                      </a:pPr>
                      <a:r>
                        <a:rPr lang="en-US" sz="1200" b="1" dirty="0">
                          <a:latin typeface="Consolas" panose="020B0609020204030204" pitchFamily="49" charset="0"/>
                        </a:rPr>
                        <a:t>Unsafe assertion use:</a:t>
                      </a:r>
                      <a:r>
                        <a:rPr lang="en-US" sz="1200" dirty="0">
                          <a:latin typeface="Consolas" panose="020B0609020204030204" pitchFamily="49" charset="0"/>
                        </a:rPr>
                        <a:t> Assertions usually only cause issues in testing or debug builds, not in the live program. </a:t>
                      </a:r>
                      <a:br>
                        <a:rPr lang="en-US" sz="1200" dirty="0">
                          <a:latin typeface="Consolas" panose="020B0609020204030204" pitchFamily="49" charset="0"/>
                        </a:rPr>
                      </a:br>
                      <a:r>
                        <a:rPr lang="en-US" sz="1200" b="1" dirty="0">
                          <a:latin typeface="Consolas" panose="020B0609020204030204" pitchFamily="49" charset="0"/>
                        </a:rPr>
                        <a:t>Poor exception handling:</a:t>
                      </a:r>
                      <a:r>
                        <a:rPr lang="en-US" sz="1200" dirty="0">
                          <a:latin typeface="Consolas" panose="020B0609020204030204" pitchFamily="49" charset="0"/>
                        </a:rPr>
                        <a:t> If exceptions are not handled properly, it may skip over errors, but the system usually stays running.</a:t>
                      </a:r>
                      <a:endParaRPr sz="1200" u="none" strike="noStrike" cap="none" dirty="0">
                        <a:latin typeface="Consolas" panose="020B0609020204030204" pitchFamily="49" charset="0"/>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solidFill>
                        <a:srgbClr val="9E9E9E"/>
                      </a:solidFill>
                      <a:prstDash val="solid"/>
                      <a:round/>
                      <a:headEnd type="none" w="sm" len="sm"/>
                      <a:tailEnd type="none" w="sm" len="sm"/>
                    </a:lnB>
                    <a:blipFill>
                      <a:blip r:embed="rId7"/>
                      <a:tile tx="0" ty="0" sx="100000" sy="100000" flip="none" algn="tl"/>
                    </a:blip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2400" u="none" strike="noStrike" cap="none" dirty="0">
                          <a:solidFill>
                            <a:srgbClr val="B91C00"/>
                          </a:solidFill>
                          <a:latin typeface="Consolas" panose="020B0609020204030204" pitchFamily="49" charset="0"/>
                        </a:rPr>
                        <a:t>Unlikely</a:t>
                      </a:r>
                    </a:p>
                    <a:p>
                      <a:pPr marL="0" marR="0" lvl="0" indent="0" algn="ctr" rtl="0">
                        <a:lnSpc>
                          <a:spcPct val="100000"/>
                        </a:lnSpc>
                        <a:spcBef>
                          <a:spcPts val="0"/>
                        </a:spcBef>
                        <a:spcAft>
                          <a:spcPts val="0"/>
                        </a:spcAft>
                        <a:buClr>
                          <a:srgbClr val="000000"/>
                        </a:buClr>
                        <a:buSzPts val="3600"/>
                        <a:buFont typeface="Arial"/>
                        <a:buNone/>
                      </a:pPr>
                      <a:endParaRPr lang="en-US" sz="1200" u="none" strike="noStrike" cap="none" dirty="0">
                        <a:solidFill>
                          <a:srgbClr val="B91C00"/>
                        </a:solidFill>
                        <a:latin typeface="Consolas" panose="020B0609020204030204" pitchFamily="49" charset="0"/>
                      </a:endParaRPr>
                    </a:p>
                    <a:p>
                      <a:pPr marL="0" marR="0" lvl="0" indent="0" algn="l" rtl="0">
                        <a:lnSpc>
                          <a:spcPct val="150000"/>
                        </a:lnSpc>
                        <a:spcBef>
                          <a:spcPts val="0"/>
                        </a:spcBef>
                        <a:spcAft>
                          <a:spcPts val="0"/>
                        </a:spcAft>
                        <a:buClr>
                          <a:srgbClr val="000000"/>
                        </a:buClr>
                        <a:buSzPts val="3600"/>
                        <a:buFont typeface="Arial"/>
                        <a:buNone/>
                      </a:pPr>
                      <a:r>
                        <a:rPr lang="en-US" sz="1200" b="1" dirty="0">
                          <a:latin typeface="Consolas" panose="020B0609020204030204" pitchFamily="49" charset="0"/>
                        </a:rPr>
                        <a:t>Integer overflows:</a:t>
                      </a:r>
                      <a:r>
                        <a:rPr lang="en-US" sz="1200" dirty="0">
                          <a:latin typeface="Consolas" panose="020B0609020204030204" pitchFamily="49" charset="0"/>
                        </a:rPr>
                        <a:t> These are harder to pull off if input is checked properly, but they can still cause crashes or open security holes if missed.</a:t>
                      </a:r>
                      <a:endParaRPr sz="1200" u="none" strike="noStrike" cap="none" dirty="0">
                        <a:latin typeface="Consolas" panose="020B0609020204030204" pitchFamily="49" charset="0"/>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solidFill>
                        <a:srgbClr val="9E9E9E"/>
                      </a:solidFill>
                      <a:prstDash val="solid"/>
                      <a:round/>
                      <a:headEnd type="none" w="sm" len="sm"/>
                      <a:tailEnd type="none" w="sm" len="sm"/>
                    </a:lnB>
                    <a:blipFill>
                      <a:blip r:embed="rId7"/>
                      <a:tile tx="0" ty="0" sx="100000" sy="100000" flip="none" algn="tl"/>
                    </a:blip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8">
            <a:alphaModFix/>
          </a:blip>
          <a:stretch>
            <a:fillRect/>
          </a:stretch>
        </p:blipFill>
        <p:spPr>
          <a:xfrm>
            <a:off x="11305399" y="5523985"/>
            <a:ext cx="886601" cy="1149225"/>
          </a:xfrm>
          <a:prstGeom prst="rect">
            <a:avLst/>
          </a:prstGeom>
          <a:noFill/>
          <a:ln>
            <a:noFill/>
          </a:ln>
        </p:spPr>
      </p:pic>
      <p:sp>
        <p:nvSpPr>
          <p:cNvPr id="4" name="TextBox 3">
            <a:extLst>
              <a:ext uri="{FF2B5EF4-FFF2-40B4-BE49-F238E27FC236}">
                <a16:creationId xmlns:a16="http://schemas.microsoft.com/office/drawing/2014/main" id="{605F5D67-6352-3FDE-177D-68DCDFDAC003}"/>
              </a:ext>
            </a:extLst>
          </p:cNvPr>
          <p:cNvSpPr txBox="1"/>
          <p:nvPr/>
        </p:nvSpPr>
        <p:spPr>
          <a:xfrm>
            <a:off x="43912" y="1068352"/>
            <a:ext cx="3092046" cy="400110"/>
          </a:xfrm>
          <a:prstGeom prst="rect">
            <a:avLst/>
          </a:prstGeom>
          <a:noFill/>
        </p:spPr>
        <p:txBody>
          <a:bodyPr wrap="square" rtlCol="0">
            <a:spAutoFit/>
          </a:bodyPr>
          <a:lstStyle/>
          <a:p>
            <a:r>
              <a:rPr lang="en-US" sz="2000" b="1" dirty="0">
                <a:solidFill>
                  <a:srgbClr val="FAEA6F"/>
                </a:solidFill>
                <a:effectLst>
                  <a:glow rad="254000">
                    <a:srgbClr val="FF2FB9">
                      <a:alpha val="60000"/>
                    </a:srgbClr>
                  </a:glow>
                </a:effectLst>
              </a:rPr>
              <a:t>AUTOMATION TOOLS</a:t>
            </a:r>
          </a:p>
        </p:txBody>
      </p:sp>
      <p:sp>
        <p:nvSpPr>
          <p:cNvPr id="7" name="TextBox 6">
            <a:extLst>
              <a:ext uri="{FF2B5EF4-FFF2-40B4-BE49-F238E27FC236}">
                <a16:creationId xmlns:a16="http://schemas.microsoft.com/office/drawing/2014/main" id="{F8969DDA-B818-03F6-488D-9BA00A571D6F}"/>
              </a:ext>
            </a:extLst>
          </p:cNvPr>
          <p:cNvSpPr txBox="1"/>
          <p:nvPr/>
        </p:nvSpPr>
        <p:spPr>
          <a:xfrm>
            <a:off x="340963" y="1582340"/>
            <a:ext cx="2574416" cy="3416320"/>
          </a:xfrm>
          <a:prstGeom prst="rect">
            <a:avLst/>
          </a:prstGeom>
          <a:noFill/>
        </p:spPr>
        <p:txBody>
          <a:bodyPr wrap="square" rtlCol="0">
            <a:spAutoFit/>
          </a:bodyPr>
          <a:lstStyle/>
          <a:p>
            <a:r>
              <a:rPr lang="en-US" sz="1800" b="1" dirty="0">
                <a:solidFill>
                  <a:srgbClr val="FAEA6F"/>
                </a:solidFill>
                <a:effectLst>
                  <a:glow rad="381000">
                    <a:srgbClr val="FF2FB9">
                      <a:alpha val="70000"/>
                    </a:srgbClr>
                  </a:glow>
                </a:effectLst>
              </a:rPr>
              <a:t>Cppcheck:</a:t>
            </a:r>
          </a:p>
          <a:p>
            <a:r>
              <a:rPr lang="en-US" sz="1800" dirty="0">
                <a:solidFill>
                  <a:srgbClr val="FAEA6F"/>
                </a:solidFill>
                <a:effectLst>
                  <a:glow rad="381000">
                    <a:srgbClr val="FF2FB9">
                      <a:alpha val="70000"/>
                    </a:srgbClr>
                  </a:glow>
                </a:effectLst>
              </a:rPr>
              <a:t>Helps catch memory and integer problems</a:t>
            </a:r>
          </a:p>
          <a:p>
            <a:endParaRPr lang="en-US" sz="1800" dirty="0">
              <a:solidFill>
                <a:srgbClr val="FAEA6F"/>
              </a:solidFill>
              <a:effectLst>
                <a:glow rad="381000">
                  <a:srgbClr val="FF2FB9">
                    <a:alpha val="70000"/>
                  </a:srgbClr>
                </a:glow>
              </a:effectLst>
            </a:endParaRPr>
          </a:p>
          <a:p>
            <a:r>
              <a:rPr lang="en-US" sz="1800" b="1" dirty="0">
                <a:solidFill>
                  <a:srgbClr val="FAEA6F"/>
                </a:solidFill>
                <a:effectLst>
                  <a:glow rad="381000">
                    <a:srgbClr val="FF2FB9">
                      <a:alpha val="70000"/>
                    </a:srgbClr>
                  </a:glow>
                </a:effectLst>
              </a:rPr>
              <a:t>Clang Tidy:</a:t>
            </a:r>
          </a:p>
          <a:p>
            <a:r>
              <a:rPr lang="en-US" sz="1800" dirty="0">
                <a:solidFill>
                  <a:srgbClr val="FAEA6F"/>
                </a:solidFill>
                <a:effectLst>
                  <a:glow rad="381000">
                    <a:srgbClr val="FF2FB9">
                      <a:alpha val="70000"/>
                    </a:srgbClr>
                  </a:glow>
                </a:effectLst>
              </a:rPr>
              <a:t>Helps catch bad pointer use and type errors</a:t>
            </a:r>
          </a:p>
          <a:p>
            <a:endParaRPr lang="en-US" sz="1800" dirty="0">
              <a:solidFill>
                <a:srgbClr val="FAEA6F"/>
              </a:solidFill>
              <a:effectLst>
                <a:glow rad="381000">
                  <a:srgbClr val="FF2FB9">
                    <a:alpha val="70000"/>
                  </a:srgbClr>
                </a:glow>
              </a:effectLst>
            </a:endParaRPr>
          </a:p>
          <a:p>
            <a:r>
              <a:rPr lang="en-US" sz="1800" b="1" dirty="0">
                <a:solidFill>
                  <a:srgbClr val="FAEA6F"/>
                </a:solidFill>
                <a:effectLst>
                  <a:glow rad="381000">
                    <a:srgbClr val="FF2FB9">
                      <a:alpha val="70000"/>
                    </a:srgbClr>
                  </a:glow>
                </a:effectLst>
              </a:rPr>
              <a:t>SonarQube:</a:t>
            </a:r>
            <a:endParaRPr lang="en-US" sz="1800" dirty="0">
              <a:solidFill>
                <a:srgbClr val="FAEA6F"/>
              </a:solidFill>
              <a:effectLst>
                <a:glow rad="381000">
                  <a:srgbClr val="FF2FB9">
                    <a:alpha val="70000"/>
                  </a:srgbClr>
                </a:glow>
              </a:effectLst>
            </a:endParaRPr>
          </a:p>
          <a:p>
            <a:r>
              <a:rPr lang="en-US" sz="1800" dirty="0">
                <a:solidFill>
                  <a:srgbClr val="FAEA6F"/>
                </a:solidFill>
                <a:effectLst>
                  <a:glow rad="381000">
                    <a:srgbClr val="FF2FB9">
                      <a:alpha val="70000"/>
                    </a:srgbClr>
                  </a:glow>
                </a:effectLst>
              </a:rPr>
              <a:t>Helps detect SQL injections</a:t>
            </a:r>
          </a:p>
        </p:txBody>
      </p:sp>
      <p:pic>
        <p:nvPicPr>
          <p:cNvPr id="34" name="Audio 33">
            <a:hlinkClick r:id="" action="ppaction://media"/>
            <a:extLst>
              <a:ext uri="{FF2B5EF4-FFF2-40B4-BE49-F238E27FC236}">
                <a16:creationId xmlns:a16="http://schemas.microsoft.com/office/drawing/2014/main" id="{156CB3CD-4CDC-BC2E-C5B2-625D82364129}"/>
              </a:ext>
            </a:extLst>
          </p:cNvPr>
          <p:cNvPicPr>
            <a:picLocks noChangeAspect="1"/>
          </p:cNvPicPr>
          <p:nvPr>
            <a:audioFile r:link="rId3"/>
            <p:extLst>
              <p:ext uri="{DAA4B4D4-6D71-4841-9C94-3DE7FCFB9230}">
                <p14:media xmlns:p14="http://schemas.microsoft.com/office/powerpoint/2010/main" r:embed="rId2"/>
              </p:ext>
            </p:extLst>
          </p:nvPr>
        </p:nvPicPr>
        <p:blipFill>
          <a:blip r:embed="rId9"/>
          <a:srcRect l="-118750" t="-118750" r="-118750" b="-118750"/>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5390"/>
    </mc:Choice>
    <mc:Fallback xmlns="">
      <p:transition spd="slow" advTm="553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4"/>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3677651" y="403426"/>
            <a:ext cx="4070684"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solidFill>
                  <a:srgbClr val="FFFF00"/>
                </a:solidFill>
                <a:effectLst>
                  <a:glow rad="317500">
                    <a:srgbClr val="B91C00">
                      <a:alpha val="60000"/>
                    </a:srgbClr>
                  </a:glow>
                </a:effectLst>
                <a:latin typeface="Consolas" panose="020B0609020204030204" pitchFamily="49" charset="0"/>
              </a:rPr>
              <a:t>10 PRINCIPLES</a:t>
            </a:r>
            <a:endParaRPr dirty="0">
              <a:solidFill>
                <a:srgbClr val="FFFF00"/>
              </a:solidFill>
              <a:effectLst>
                <a:glow rad="317500">
                  <a:srgbClr val="B91C00">
                    <a:alpha val="60000"/>
                  </a:srgbClr>
                </a:glow>
              </a:effectLst>
              <a:latin typeface="Consolas" panose="020B0609020204030204" pitchFamily="49" charset="0"/>
            </a:endParaRPr>
          </a:p>
        </p:txBody>
      </p:sp>
      <p:sp>
        <p:nvSpPr>
          <p:cNvPr id="168" name="Google Shape;168;p5"/>
          <p:cNvSpPr txBox="1">
            <a:spLocks noGrp="1"/>
          </p:cNvSpPr>
          <p:nvPr>
            <p:ph type="body" idx="1"/>
          </p:nvPr>
        </p:nvSpPr>
        <p:spPr>
          <a:xfrm>
            <a:off x="0" y="1455824"/>
            <a:ext cx="11084074" cy="5871408"/>
          </a:xfrm>
          <a:prstGeom prst="rect">
            <a:avLst/>
          </a:prstGeom>
          <a:noFill/>
          <a:ln>
            <a:noFill/>
          </a:ln>
        </p:spPr>
        <p:txBody>
          <a:bodyPr spcFirstLastPara="1" wrap="square" lIns="91425" tIns="45700" rIns="91425" bIns="45700" anchor="t" anchorCtr="0">
            <a:normAutofit/>
          </a:bodyPr>
          <a:lstStyle/>
          <a:p>
            <a:pPr>
              <a:lnSpc>
                <a:spcPct val="100000"/>
              </a:lnSpc>
              <a:spcAft>
                <a:spcPts val="600"/>
              </a:spcAft>
              <a:buNone/>
            </a:pPr>
            <a:r>
              <a:rPr lang="en-US" sz="1500" b="1" dirty="0">
                <a:solidFill>
                  <a:srgbClr val="FFFF00"/>
                </a:solidFill>
                <a:effectLst>
                  <a:glow rad="127000">
                    <a:srgbClr val="B91C00">
                      <a:alpha val="40000"/>
                    </a:srgbClr>
                  </a:glow>
                </a:effectLst>
                <a:latin typeface="Consolas" panose="020B0609020204030204" pitchFamily="49" charset="0"/>
              </a:rPr>
              <a:t>1. Validate Input Data: </a:t>
            </a:r>
            <a:r>
              <a:rPr lang="en-US" sz="1200" dirty="0">
                <a:effectLst>
                  <a:glow rad="127000">
                    <a:srgbClr val="B91C00">
                      <a:alpha val="40000"/>
                    </a:srgbClr>
                  </a:glow>
                </a:effectLst>
                <a:latin typeface="Consolas" panose="020B0609020204030204" pitchFamily="49" charset="0"/>
              </a:rPr>
              <a:t>Data Type Errors, Data Value Validation, String Handling Errors, SQL Injection</a:t>
            </a:r>
          </a:p>
          <a:p>
            <a:pPr>
              <a:lnSpc>
                <a:spcPct val="100000"/>
              </a:lnSpc>
              <a:spcAft>
                <a:spcPts val="600"/>
              </a:spcAft>
              <a:buNone/>
            </a:pPr>
            <a:r>
              <a:rPr lang="en-US" sz="1500" b="1" dirty="0">
                <a:solidFill>
                  <a:srgbClr val="FFFF00"/>
                </a:solidFill>
                <a:effectLst>
                  <a:glow rad="127000">
                    <a:srgbClr val="B91C00">
                      <a:alpha val="40000"/>
                    </a:srgbClr>
                  </a:glow>
                </a:effectLst>
                <a:latin typeface="Consolas" panose="020B0609020204030204" pitchFamily="49" charset="0"/>
              </a:rPr>
              <a:t>2. Heed Compiler Warnings: </a:t>
            </a:r>
            <a:r>
              <a:rPr lang="en-US" sz="1200" dirty="0">
                <a:effectLst>
                  <a:glow rad="127000">
                    <a:srgbClr val="B91C00">
                      <a:alpha val="40000"/>
                    </a:srgbClr>
                  </a:glow>
                </a:effectLst>
                <a:latin typeface="Consolas" panose="020B0609020204030204" pitchFamily="49" charset="0"/>
              </a:rPr>
              <a:t>Data Type Errors, String Handling Errors, Pointer Initialization Errors, Exception Handling Errors</a:t>
            </a:r>
          </a:p>
          <a:p>
            <a:pPr>
              <a:lnSpc>
                <a:spcPct val="100000"/>
              </a:lnSpc>
              <a:spcAft>
                <a:spcPts val="600"/>
              </a:spcAft>
              <a:buNone/>
            </a:pPr>
            <a:r>
              <a:rPr lang="en-US" sz="1500" b="1" dirty="0">
                <a:solidFill>
                  <a:srgbClr val="FFFF00"/>
                </a:solidFill>
                <a:effectLst>
                  <a:glow rad="127000">
                    <a:srgbClr val="B91C00">
                      <a:alpha val="40000"/>
                    </a:srgbClr>
                  </a:glow>
                </a:effectLst>
                <a:latin typeface="Consolas" panose="020B0609020204030204" pitchFamily="49" charset="0"/>
              </a:rPr>
              <a:t>3. Architect and Design for Security Policies: </a:t>
            </a:r>
            <a:r>
              <a:rPr lang="en-US" sz="1200" dirty="0">
                <a:effectLst>
                  <a:glow rad="127000">
                    <a:srgbClr val="B91C00">
                      <a:alpha val="40000"/>
                    </a:srgbClr>
                  </a:glow>
                </a:effectLst>
                <a:latin typeface="Consolas" panose="020B0609020204030204" pitchFamily="49" charset="0"/>
              </a:rPr>
              <a:t>Data Type Errors, Data Value Validation, String Handling Errors, Memory Management Errors, Exception Handling Errors, SQL Injection</a:t>
            </a:r>
          </a:p>
          <a:p>
            <a:pPr>
              <a:lnSpc>
                <a:spcPct val="100000"/>
              </a:lnSpc>
              <a:spcAft>
                <a:spcPts val="600"/>
              </a:spcAft>
              <a:buNone/>
            </a:pPr>
            <a:r>
              <a:rPr lang="en-US" sz="1500" b="1" dirty="0">
                <a:solidFill>
                  <a:srgbClr val="FFFF00"/>
                </a:solidFill>
                <a:effectLst>
                  <a:glow rad="127000">
                    <a:srgbClr val="B91C00">
                      <a:alpha val="40000"/>
                    </a:srgbClr>
                  </a:glow>
                </a:effectLst>
                <a:latin typeface="Consolas" panose="020B0609020204030204" pitchFamily="49" charset="0"/>
              </a:rPr>
              <a:t>4. Keep It Simple: </a:t>
            </a:r>
            <a:r>
              <a:rPr lang="en-US" sz="1200" dirty="0">
                <a:effectLst>
                  <a:glow rad="127000">
                    <a:srgbClr val="B91C00">
                      <a:alpha val="40000"/>
                    </a:srgbClr>
                  </a:glow>
                </a:effectLst>
                <a:latin typeface="Consolas" panose="020B0609020204030204" pitchFamily="49" charset="0"/>
              </a:rPr>
              <a:t>Pointer Initialization Errors, Exception Handling Errors, Data Type Errors</a:t>
            </a:r>
          </a:p>
          <a:p>
            <a:pPr>
              <a:lnSpc>
                <a:spcPct val="100000"/>
              </a:lnSpc>
              <a:spcAft>
                <a:spcPts val="600"/>
              </a:spcAft>
              <a:buNone/>
            </a:pPr>
            <a:r>
              <a:rPr lang="en-US" sz="1500" b="1" dirty="0">
                <a:solidFill>
                  <a:srgbClr val="FFFF00"/>
                </a:solidFill>
                <a:effectLst>
                  <a:glow rad="127000">
                    <a:srgbClr val="B91C00">
                      <a:alpha val="40000"/>
                    </a:srgbClr>
                  </a:glow>
                </a:effectLst>
                <a:latin typeface="Consolas" panose="020B0609020204030204" pitchFamily="49" charset="0"/>
              </a:rPr>
              <a:t>5. Default Deny: </a:t>
            </a:r>
            <a:r>
              <a:rPr lang="en-US" sz="1200" dirty="0">
                <a:effectLst>
                  <a:glow rad="127000">
                    <a:srgbClr val="B91C00">
                      <a:alpha val="40000"/>
                    </a:srgbClr>
                  </a:glow>
                </a:effectLst>
                <a:latin typeface="Consolas" panose="020B0609020204030204" pitchFamily="49" charset="0"/>
              </a:rPr>
              <a:t>Data Value Validation, SQL Injection, String Handling Errors</a:t>
            </a:r>
          </a:p>
          <a:p>
            <a:pPr>
              <a:lnSpc>
                <a:spcPct val="100000"/>
              </a:lnSpc>
              <a:spcAft>
                <a:spcPts val="600"/>
              </a:spcAft>
              <a:buNone/>
            </a:pPr>
            <a:r>
              <a:rPr lang="en-US" sz="1500" b="1" dirty="0">
                <a:solidFill>
                  <a:srgbClr val="FFFF00"/>
                </a:solidFill>
                <a:effectLst>
                  <a:glow rad="127000">
                    <a:srgbClr val="B91C00">
                      <a:alpha val="40000"/>
                    </a:srgbClr>
                  </a:glow>
                </a:effectLst>
                <a:latin typeface="Consolas" panose="020B0609020204030204" pitchFamily="49" charset="0"/>
              </a:rPr>
              <a:t>6. Sanitize Data Sent to Other Systems: </a:t>
            </a:r>
            <a:r>
              <a:rPr lang="en-US" sz="1200" dirty="0">
                <a:effectLst>
                  <a:glow rad="127000">
                    <a:srgbClr val="B91C00">
                      <a:alpha val="40000"/>
                    </a:srgbClr>
                  </a:glow>
                </a:effectLst>
                <a:latin typeface="Consolas" panose="020B0609020204030204" pitchFamily="49" charset="0"/>
              </a:rPr>
              <a:t>SQL Injection, String Handling Errors</a:t>
            </a:r>
          </a:p>
          <a:p>
            <a:pPr>
              <a:lnSpc>
                <a:spcPct val="100000"/>
              </a:lnSpc>
              <a:spcAft>
                <a:spcPts val="600"/>
              </a:spcAft>
              <a:buNone/>
            </a:pPr>
            <a:r>
              <a:rPr lang="en-US" sz="1500" b="1" dirty="0">
                <a:solidFill>
                  <a:srgbClr val="FFFF00"/>
                </a:solidFill>
                <a:effectLst>
                  <a:glow rad="127000">
                    <a:srgbClr val="B91C00">
                      <a:alpha val="40000"/>
                    </a:srgbClr>
                  </a:glow>
                </a:effectLst>
                <a:latin typeface="Consolas" panose="020B0609020204030204" pitchFamily="49" charset="0"/>
              </a:rPr>
              <a:t>7. Adhere to Principle of Least Privilege: </a:t>
            </a:r>
            <a:r>
              <a:rPr lang="en-US" sz="1200" dirty="0">
                <a:effectLst>
                  <a:glow rad="127000">
                    <a:srgbClr val="B91C00">
                      <a:alpha val="40000"/>
                    </a:srgbClr>
                  </a:glow>
                </a:effectLst>
                <a:latin typeface="Consolas" panose="020B0609020204030204" pitchFamily="49" charset="0"/>
              </a:rPr>
              <a:t>Exception Handling Errors, SQL Injection</a:t>
            </a:r>
          </a:p>
          <a:p>
            <a:pPr>
              <a:lnSpc>
                <a:spcPct val="100000"/>
              </a:lnSpc>
              <a:spcAft>
                <a:spcPts val="600"/>
              </a:spcAft>
              <a:buNone/>
            </a:pPr>
            <a:r>
              <a:rPr lang="en-US" sz="1500" b="1" dirty="0">
                <a:solidFill>
                  <a:srgbClr val="FFFF00"/>
                </a:solidFill>
                <a:effectLst>
                  <a:glow rad="127000">
                    <a:srgbClr val="B91C00">
                      <a:alpha val="40000"/>
                    </a:srgbClr>
                  </a:glow>
                </a:effectLst>
                <a:latin typeface="Consolas" panose="020B0609020204030204" pitchFamily="49" charset="0"/>
              </a:rPr>
              <a:t>8. Practice Defense in Depth: </a:t>
            </a:r>
            <a:r>
              <a:rPr lang="en-US" sz="1200" dirty="0">
                <a:effectLst>
                  <a:glow rad="127000">
                    <a:srgbClr val="B91C00">
                      <a:alpha val="40000"/>
                    </a:srgbClr>
                  </a:glow>
                </a:effectLst>
                <a:latin typeface="Consolas" panose="020B0609020204030204" pitchFamily="49" charset="0"/>
              </a:rPr>
              <a:t>Data Type Errors, String Handling Errors, Memory Management Errors, SQL Injection, Dangling Pointers</a:t>
            </a:r>
          </a:p>
          <a:p>
            <a:pPr>
              <a:lnSpc>
                <a:spcPct val="100000"/>
              </a:lnSpc>
              <a:spcAft>
                <a:spcPts val="600"/>
              </a:spcAft>
              <a:buNone/>
            </a:pPr>
            <a:r>
              <a:rPr lang="en-US" sz="1500" b="1" dirty="0">
                <a:solidFill>
                  <a:srgbClr val="FFFF00"/>
                </a:solidFill>
                <a:effectLst>
                  <a:glow rad="127000">
                    <a:srgbClr val="B91C00">
                      <a:alpha val="40000"/>
                    </a:srgbClr>
                  </a:glow>
                </a:effectLst>
                <a:latin typeface="Consolas" panose="020B0609020204030204" pitchFamily="49" charset="0"/>
              </a:rPr>
              <a:t>9. Use Effective Quality Assurance Techniques: </a:t>
            </a:r>
            <a:r>
              <a:rPr lang="en-US" sz="1200" dirty="0">
                <a:effectLst>
                  <a:glow rad="127000">
                    <a:srgbClr val="B91C00">
                      <a:alpha val="40000"/>
                    </a:srgbClr>
                  </a:glow>
                </a:effectLst>
                <a:latin typeface="Consolas" panose="020B0609020204030204" pitchFamily="49" charset="0"/>
              </a:rPr>
              <a:t>Integer Overflow, Memory Management Errors, Pointer Initialization Errors, Dangling Pointers</a:t>
            </a:r>
          </a:p>
          <a:p>
            <a:pPr>
              <a:lnSpc>
                <a:spcPct val="100000"/>
              </a:lnSpc>
              <a:spcAft>
                <a:spcPts val="600"/>
              </a:spcAft>
              <a:buNone/>
            </a:pPr>
            <a:r>
              <a:rPr lang="en-US" sz="1500" b="1" dirty="0">
                <a:solidFill>
                  <a:srgbClr val="FFFF00"/>
                </a:solidFill>
                <a:effectLst>
                  <a:glow rad="127000">
                    <a:srgbClr val="B91C00">
                      <a:alpha val="40000"/>
                    </a:srgbClr>
                  </a:glow>
                </a:effectLst>
                <a:latin typeface="Consolas" panose="020B0609020204030204" pitchFamily="49" charset="0"/>
              </a:rPr>
              <a:t>10. Adopt a Secure Coding Standard: </a:t>
            </a:r>
            <a:r>
              <a:rPr lang="en-US" sz="1200" dirty="0">
                <a:effectLst>
                  <a:glow rad="127000">
                    <a:srgbClr val="B91C00">
                      <a:alpha val="40000"/>
                    </a:srgbClr>
                  </a:glow>
                </a:effectLst>
                <a:latin typeface="Consolas" panose="020B0609020204030204" pitchFamily="49" charset="0"/>
              </a:rPr>
              <a:t>Applies to all coding standards</a:t>
            </a:r>
          </a:p>
        </p:txBody>
      </p:sp>
      <p:pic>
        <p:nvPicPr>
          <p:cNvPr id="169" name="Google Shape;169;p5"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34" name="Audio 33">
            <a:hlinkClick r:id="" action="ppaction://media"/>
            <a:extLst>
              <a:ext uri="{FF2B5EF4-FFF2-40B4-BE49-F238E27FC236}">
                <a16:creationId xmlns:a16="http://schemas.microsoft.com/office/drawing/2014/main" id="{A63F4A3B-9AED-9DBB-A2EC-46FC7D2517AD}"/>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118750" t="-118750" r="-118750" b="-118750"/>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2442"/>
    </mc:Choice>
    <mc:Fallback xmlns="">
      <p:transition spd="slow" advTm="5244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4"/>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5099383" y="149465"/>
            <a:ext cx="5827295" cy="129302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000"/>
              <a:buFont typeface="Century Gothic"/>
              <a:buNone/>
            </a:pPr>
            <a:r>
              <a:rPr lang="en-US" dirty="0">
                <a:effectLst>
                  <a:glow rad="635000">
                    <a:srgbClr val="B91C00">
                      <a:alpha val="50000"/>
                    </a:srgbClr>
                  </a:glow>
                </a:effectLst>
                <a:latin typeface="Consolas" panose="020B0609020204030204" pitchFamily="49" charset="0"/>
              </a:rPr>
              <a:t>CODING STANDARDS</a:t>
            </a:r>
            <a:endParaRPr dirty="0">
              <a:effectLst>
                <a:glow rad="635000">
                  <a:srgbClr val="B91C00">
                    <a:alpha val="50000"/>
                  </a:srgbClr>
                </a:glow>
              </a:effectLst>
              <a:latin typeface="Consolas" panose="020B0609020204030204" pitchFamily="49" charset="0"/>
            </a:endParaRPr>
          </a:p>
        </p:txBody>
      </p:sp>
      <p:sp>
        <p:nvSpPr>
          <p:cNvPr id="175" name="Google Shape;175;p6"/>
          <p:cNvSpPr txBox="1">
            <a:spLocks noGrp="1"/>
          </p:cNvSpPr>
          <p:nvPr>
            <p:ph type="body" idx="1"/>
          </p:nvPr>
        </p:nvSpPr>
        <p:spPr>
          <a:xfrm>
            <a:off x="0" y="1976974"/>
            <a:ext cx="4159357" cy="4161284"/>
          </a:xfrm>
          <a:prstGeom prst="rect">
            <a:avLst/>
          </a:prstGeom>
          <a:noFill/>
          <a:ln>
            <a:noFill/>
          </a:ln>
        </p:spPr>
        <p:txBody>
          <a:bodyPr spcFirstLastPara="1" wrap="square" lIns="91425" tIns="45700" rIns="91425" bIns="45700" anchor="t" anchorCtr="0">
            <a:normAutofit/>
          </a:bodyPr>
          <a:lstStyle/>
          <a:p>
            <a:pPr>
              <a:buFont typeface="+mj-lt"/>
              <a:buAutoNum type="arabicPeriod"/>
            </a:pPr>
            <a:r>
              <a:rPr lang="en-US" sz="1400" dirty="0">
                <a:latin typeface="Consolas" panose="020B0609020204030204" pitchFamily="49" charset="0"/>
              </a:rPr>
              <a:t>SQL Injection</a:t>
            </a:r>
          </a:p>
          <a:p>
            <a:pPr>
              <a:buFont typeface="+mj-lt"/>
              <a:buAutoNum type="arabicPeriod"/>
            </a:pPr>
            <a:r>
              <a:rPr lang="en-US" sz="1400" dirty="0">
                <a:latin typeface="Consolas" panose="020B0609020204030204" pitchFamily="49" charset="0"/>
              </a:rPr>
              <a:t>String Handling Errors</a:t>
            </a:r>
          </a:p>
          <a:p>
            <a:pPr>
              <a:buFont typeface="+mj-lt"/>
              <a:buAutoNum type="arabicPeriod"/>
            </a:pPr>
            <a:r>
              <a:rPr lang="en-US" sz="1400" dirty="0">
                <a:latin typeface="Consolas" panose="020B0609020204030204" pitchFamily="49" charset="0"/>
              </a:rPr>
              <a:t>Memory Management Errors</a:t>
            </a:r>
          </a:p>
          <a:p>
            <a:pPr>
              <a:buFont typeface="+mj-lt"/>
              <a:buAutoNum type="arabicPeriod"/>
            </a:pPr>
            <a:r>
              <a:rPr lang="en-US" sz="1400" dirty="0">
                <a:latin typeface="Consolas" panose="020B0609020204030204" pitchFamily="49" charset="0"/>
              </a:rPr>
              <a:t>Integer Overflow</a:t>
            </a:r>
          </a:p>
          <a:p>
            <a:pPr>
              <a:buFont typeface="+mj-lt"/>
              <a:buAutoNum type="arabicPeriod"/>
            </a:pPr>
            <a:r>
              <a:rPr lang="en-US" sz="1400" dirty="0">
                <a:latin typeface="Consolas" panose="020B0609020204030204" pitchFamily="49" charset="0"/>
              </a:rPr>
              <a:t>Dangling Pointers</a:t>
            </a:r>
          </a:p>
          <a:p>
            <a:pPr>
              <a:buFont typeface="+mj-lt"/>
              <a:buAutoNum type="arabicPeriod"/>
            </a:pPr>
            <a:r>
              <a:rPr lang="en-US" sz="1400" dirty="0">
                <a:latin typeface="Consolas" panose="020B0609020204030204" pitchFamily="49" charset="0"/>
              </a:rPr>
              <a:t>Exception Handling Errors</a:t>
            </a:r>
          </a:p>
          <a:p>
            <a:pPr>
              <a:buFont typeface="+mj-lt"/>
              <a:buAutoNum type="arabicPeriod"/>
            </a:pPr>
            <a:r>
              <a:rPr lang="en-US" sz="1400" dirty="0">
                <a:latin typeface="Consolas" panose="020B0609020204030204" pitchFamily="49" charset="0"/>
              </a:rPr>
              <a:t>Data Value Validation</a:t>
            </a:r>
          </a:p>
          <a:p>
            <a:pPr>
              <a:buFont typeface="+mj-lt"/>
              <a:buAutoNum type="arabicPeriod"/>
            </a:pPr>
            <a:r>
              <a:rPr lang="en-US" sz="1400" dirty="0">
                <a:latin typeface="Consolas" panose="020B0609020204030204" pitchFamily="49" charset="0"/>
              </a:rPr>
              <a:t>Pointer Initialization Errors</a:t>
            </a:r>
          </a:p>
          <a:p>
            <a:pPr>
              <a:buFont typeface="+mj-lt"/>
              <a:buAutoNum type="arabicPeriod"/>
            </a:pPr>
            <a:r>
              <a:rPr lang="en-US" sz="1400" dirty="0">
                <a:latin typeface="Consolas" panose="020B0609020204030204" pitchFamily="49" charset="0"/>
              </a:rPr>
              <a:t>Data Type Errors</a:t>
            </a:r>
          </a:p>
          <a:p>
            <a:pPr>
              <a:buFont typeface="+mj-lt"/>
              <a:buAutoNum type="arabicPeriod"/>
            </a:pPr>
            <a:r>
              <a:rPr lang="en-US" sz="1400" dirty="0">
                <a:latin typeface="Consolas" panose="020B0609020204030204" pitchFamily="49" charset="0"/>
              </a:rPr>
              <a:t>Bad Assertion Use</a:t>
            </a:r>
          </a:p>
        </p:txBody>
      </p:sp>
      <p:pic>
        <p:nvPicPr>
          <p:cNvPr id="176" name="Google Shape;176;p6"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sp>
        <p:nvSpPr>
          <p:cNvPr id="2" name="Rectangle 1">
            <a:extLst>
              <a:ext uri="{FF2B5EF4-FFF2-40B4-BE49-F238E27FC236}">
                <a16:creationId xmlns:a16="http://schemas.microsoft.com/office/drawing/2014/main" id="{C5C9AA81-5BFE-B1C2-FE3F-744768B46650}"/>
              </a:ext>
            </a:extLst>
          </p:cNvPr>
          <p:cNvSpPr/>
          <p:nvPr/>
        </p:nvSpPr>
        <p:spPr>
          <a:xfrm>
            <a:off x="146009" y="1674804"/>
            <a:ext cx="4750843" cy="338554"/>
          </a:xfrm>
          <a:prstGeom prst="rect">
            <a:avLst/>
          </a:prstGeom>
          <a:noFill/>
        </p:spPr>
        <p:txBody>
          <a:bodyPr wrap="square" lIns="91440" tIns="45720" rIns="91440" bIns="45720">
            <a:spAutoFit/>
          </a:bodyPr>
          <a:lstStyle/>
          <a:p>
            <a:r>
              <a:rPr lang="en-US" sz="16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Consolas" panose="020B0609020204030204" pitchFamily="49" charset="0"/>
              </a:rPr>
              <a:t>Priority - Most Critical to Least:</a:t>
            </a:r>
          </a:p>
        </p:txBody>
      </p:sp>
      <p:sp>
        <p:nvSpPr>
          <p:cNvPr id="3" name="TextBox 2">
            <a:extLst>
              <a:ext uri="{FF2B5EF4-FFF2-40B4-BE49-F238E27FC236}">
                <a16:creationId xmlns:a16="http://schemas.microsoft.com/office/drawing/2014/main" id="{E482E9E6-60D4-4DC5-C690-FE44DF0F3B8E}"/>
              </a:ext>
            </a:extLst>
          </p:cNvPr>
          <p:cNvSpPr txBox="1"/>
          <p:nvPr/>
        </p:nvSpPr>
        <p:spPr>
          <a:xfrm>
            <a:off x="4656221" y="1780674"/>
            <a:ext cx="6713621" cy="4616648"/>
          </a:xfrm>
          <a:prstGeom prst="rect">
            <a:avLst/>
          </a:prstGeom>
          <a:noFill/>
        </p:spPr>
        <p:txBody>
          <a:bodyPr wrap="square" rtlCol="0">
            <a:spAutoFit/>
          </a:bodyPr>
          <a:lstStyle/>
          <a:p>
            <a:r>
              <a:rPr lang="en-US" dirty="0">
                <a:solidFill>
                  <a:srgbClr val="FFFF00"/>
                </a:solidFill>
                <a:latin typeface="Consolas" panose="020B0609020204030204" pitchFamily="49" charset="0"/>
              </a:rPr>
              <a:t>The coding standards are ranked based on the potential impact and likelihood of a real attack.</a:t>
            </a:r>
          </a:p>
          <a:p>
            <a:br>
              <a:rPr lang="en-US" dirty="0">
                <a:solidFill>
                  <a:srgbClr val="FFFF00"/>
                </a:solidFill>
                <a:latin typeface="Consolas" panose="020B0609020204030204" pitchFamily="49" charset="0"/>
              </a:rPr>
            </a:br>
            <a:r>
              <a:rPr lang="en-US" dirty="0">
                <a:solidFill>
                  <a:srgbClr val="FFFF00"/>
                </a:solidFill>
                <a:latin typeface="Consolas" panose="020B0609020204030204" pitchFamily="49" charset="0"/>
              </a:rPr>
              <a:t>SQL Injection is ranked first because it can completely expose or destroy a database with very little effort.</a:t>
            </a:r>
          </a:p>
          <a:p>
            <a:br>
              <a:rPr lang="en-US" dirty="0">
                <a:solidFill>
                  <a:srgbClr val="FFFF00"/>
                </a:solidFill>
                <a:latin typeface="Consolas" panose="020B0609020204030204" pitchFamily="49" charset="0"/>
              </a:rPr>
            </a:br>
            <a:r>
              <a:rPr lang="en-US" dirty="0">
                <a:solidFill>
                  <a:srgbClr val="FFFF00"/>
                </a:solidFill>
                <a:latin typeface="Consolas" panose="020B0609020204030204" pitchFamily="49" charset="0"/>
              </a:rPr>
              <a:t>String Handling Errors and Memory Management Errors are next because they are the most common causes of buffer overflows and crashes in C++ programs.</a:t>
            </a:r>
          </a:p>
          <a:p>
            <a:br>
              <a:rPr lang="en-US" dirty="0">
                <a:solidFill>
                  <a:srgbClr val="FFFF00"/>
                </a:solidFill>
                <a:latin typeface="Consolas" panose="020B0609020204030204" pitchFamily="49" charset="0"/>
              </a:rPr>
            </a:br>
            <a:r>
              <a:rPr lang="en-US" dirty="0">
                <a:solidFill>
                  <a:srgbClr val="FFFF00"/>
                </a:solidFill>
                <a:latin typeface="Consolas" panose="020B0609020204030204" pitchFamily="49" charset="0"/>
              </a:rPr>
              <a:t>Integer Overflow and Dangling Pointers are critical because they can easily lead to memory corruption if not controlled.</a:t>
            </a:r>
          </a:p>
          <a:p>
            <a:br>
              <a:rPr lang="en-US" dirty="0">
                <a:solidFill>
                  <a:srgbClr val="FFFF00"/>
                </a:solidFill>
                <a:latin typeface="Consolas" panose="020B0609020204030204" pitchFamily="49" charset="0"/>
              </a:rPr>
            </a:br>
            <a:r>
              <a:rPr lang="en-US" dirty="0">
                <a:solidFill>
                  <a:srgbClr val="FFFF00"/>
                </a:solidFill>
                <a:latin typeface="Consolas" panose="020B0609020204030204" pitchFamily="49" charset="0"/>
              </a:rPr>
              <a:t>Exception Handling and Data Validation are important but slightly less immediate threats if other defenses are strong.</a:t>
            </a:r>
          </a:p>
          <a:p>
            <a:br>
              <a:rPr lang="en-US" dirty="0">
                <a:solidFill>
                  <a:srgbClr val="FFFF00"/>
                </a:solidFill>
                <a:latin typeface="Consolas" panose="020B0609020204030204" pitchFamily="49" charset="0"/>
              </a:rPr>
            </a:br>
            <a:r>
              <a:rPr lang="en-US" dirty="0">
                <a:solidFill>
                  <a:srgbClr val="FFFF00"/>
                </a:solidFill>
                <a:latin typeface="Consolas" panose="020B0609020204030204" pitchFamily="49" charset="0"/>
              </a:rPr>
              <a:t>Pointer Initialization and Data Type Errors can cause crashes but are easier to catch during testing.</a:t>
            </a:r>
          </a:p>
          <a:p>
            <a:br>
              <a:rPr lang="en-US" dirty="0">
                <a:solidFill>
                  <a:srgbClr val="FFFF00"/>
                </a:solidFill>
                <a:latin typeface="Consolas" panose="020B0609020204030204" pitchFamily="49" charset="0"/>
              </a:rPr>
            </a:br>
            <a:r>
              <a:rPr lang="en-US" dirty="0">
                <a:solidFill>
                  <a:srgbClr val="FFFF00"/>
                </a:solidFill>
                <a:latin typeface="Consolas" panose="020B0609020204030204" pitchFamily="49" charset="0"/>
              </a:rPr>
              <a:t>Bad Assertion Use is last because it mostly affects development builds and is less of a direct threat in production.</a:t>
            </a:r>
          </a:p>
        </p:txBody>
      </p:sp>
      <p:pic>
        <p:nvPicPr>
          <p:cNvPr id="21" name="Audio 20">
            <a:hlinkClick r:id="" action="ppaction://media"/>
            <a:extLst>
              <a:ext uri="{FF2B5EF4-FFF2-40B4-BE49-F238E27FC236}">
                <a16:creationId xmlns:a16="http://schemas.microsoft.com/office/drawing/2014/main" id="{ECCC400D-8BC7-9CF3-8C52-66CE7D71D6E6}"/>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118750" t="-118750" r="-118750" b="-118750"/>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5353"/>
    </mc:Choice>
    <mc:Fallback xmlns="">
      <p:transition spd="slow" advTm="453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5887453" cy="129302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000"/>
              <a:buFont typeface="Century Gothic"/>
              <a:buNone/>
            </a:pPr>
            <a:r>
              <a:rPr lang="en-US" dirty="0">
                <a:effectLst>
                  <a:glow rad="647700">
                    <a:schemeClr val="accent1">
                      <a:alpha val="60000"/>
                    </a:schemeClr>
                  </a:glow>
                </a:effectLst>
                <a:latin typeface="Consolas" panose="020B0609020204030204" pitchFamily="49" charset="0"/>
              </a:rPr>
              <a:t>ENCRYPTION POLICIES</a:t>
            </a:r>
            <a:endParaRPr dirty="0">
              <a:effectLst>
                <a:glow rad="647700">
                  <a:schemeClr val="accent1">
                    <a:alpha val="60000"/>
                  </a:schemeClr>
                </a:glow>
              </a:effectLst>
              <a:latin typeface="Consolas" panose="020B0609020204030204" pitchFamily="49" charset="0"/>
            </a:endParaRPr>
          </a:p>
        </p:txBody>
      </p:sp>
      <p:sp>
        <p:nvSpPr>
          <p:cNvPr id="182" name="Google Shape;182;p7"/>
          <p:cNvSpPr txBox="1">
            <a:spLocks noGrp="1"/>
          </p:cNvSpPr>
          <p:nvPr>
            <p:ph type="body" idx="1"/>
          </p:nvPr>
        </p:nvSpPr>
        <p:spPr>
          <a:xfrm>
            <a:off x="685800" y="1844298"/>
            <a:ext cx="10820400" cy="4374387"/>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1200"/>
              </a:spcBef>
              <a:spcAft>
                <a:spcPts val="1200"/>
              </a:spcAft>
              <a:buClr>
                <a:schemeClr val="lt1"/>
              </a:buClr>
              <a:buSzPts val="2000"/>
              <a:buChar char="•"/>
            </a:pPr>
            <a:r>
              <a:rPr lang="en-US" sz="1600" b="1" dirty="0">
                <a:effectLst>
                  <a:glow rad="254000">
                    <a:schemeClr val="accent1">
                      <a:alpha val="60000"/>
                    </a:schemeClr>
                  </a:glow>
                  <a:outerShdw blurRad="50800" dist="50800" dir="5400000" algn="ctr" rotWithShape="0">
                    <a:schemeClr val="accent1"/>
                  </a:outerShdw>
                  <a:reflection stA="45000" endPos="0" dist="50800" dir="5400000" sy="-100000" algn="bl" rotWithShape="0"/>
                </a:effectLst>
                <a:latin typeface="Consolas" panose="020B0609020204030204" pitchFamily="49" charset="0"/>
              </a:rPr>
              <a:t>Encryption in Flight</a:t>
            </a:r>
            <a:br>
              <a:rPr lang="en-US" sz="1400" dirty="0">
                <a:effectLst>
                  <a:glow rad="647700">
                    <a:schemeClr val="accent1">
                      <a:alpha val="56000"/>
                    </a:schemeClr>
                  </a:glow>
                  <a:outerShdw blurRad="50800" dist="50800" dir="5400000" algn="ctr" rotWithShape="0">
                    <a:schemeClr val="accent1"/>
                  </a:outerShdw>
                  <a:reflection stA="45000" endPos="0" dist="50800" dir="5400000" sy="-100000" algn="bl" rotWithShape="0"/>
                </a:effectLst>
                <a:latin typeface="Consolas" panose="020B0609020204030204" pitchFamily="49" charset="0"/>
              </a:rPr>
            </a:br>
            <a:r>
              <a:rPr lang="en-US" sz="1400" dirty="0">
                <a:effectLst>
                  <a:outerShdw blurRad="50800" dist="50800" dir="5400000" algn="ctr" rotWithShape="0">
                    <a:schemeClr val="accent1"/>
                  </a:outerShdw>
                  <a:reflection stA="45000" endPos="0" dist="50800" dir="5400000" sy="-100000" algn="bl" rotWithShape="0"/>
                </a:effectLst>
                <a:latin typeface="Consolas" panose="020B0609020204030204" pitchFamily="49" charset="0"/>
              </a:rPr>
              <a:t>Data is encrypted while it is being sent over a network such as the internet or a local connection.</a:t>
            </a:r>
            <a:br>
              <a:rPr lang="en-US" sz="1400" dirty="0">
                <a:effectLst>
                  <a:outerShdw blurRad="50800" dist="50800" dir="5400000" algn="ctr" rotWithShape="0">
                    <a:schemeClr val="accent1"/>
                  </a:outerShdw>
                  <a:reflection stA="45000" endPos="0" dist="50800" dir="5400000" sy="-100000" algn="bl" rotWithShape="0"/>
                </a:effectLst>
                <a:latin typeface="Consolas" panose="020B0609020204030204" pitchFamily="49" charset="0"/>
              </a:rPr>
            </a:br>
            <a:r>
              <a:rPr lang="en-US" sz="1400" dirty="0">
                <a:effectLst>
                  <a:outerShdw blurRad="50800" dist="50800" dir="5400000" algn="ctr" rotWithShape="0">
                    <a:schemeClr val="accent1"/>
                  </a:outerShdw>
                  <a:reflection stA="45000" endPos="0" dist="50800" dir="5400000" sy="-100000" algn="bl" rotWithShape="0"/>
                </a:effectLst>
                <a:latin typeface="Consolas" panose="020B0609020204030204" pitchFamily="49" charset="0"/>
              </a:rPr>
              <a:t>This protects user logins, form submissions, and service calls.</a:t>
            </a:r>
            <a:br>
              <a:rPr lang="en-US" sz="1400" dirty="0">
                <a:effectLst>
                  <a:outerShdw blurRad="50800" dist="50800" dir="5400000" algn="ctr" rotWithShape="0">
                    <a:schemeClr val="accent1"/>
                  </a:outerShdw>
                  <a:reflection stA="45000" endPos="0" dist="50800" dir="5400000" sy="-100000" algn="bl" rotWithShape="0"/>
                </a:effectLst>
                <a:latin typeface="Consolas" panose="020B0609020204030204" pitchFamily="49" charset="0"/>
              </a:rPr>
            </a:br>
            <a:r>
              <a:rPr lang="en-US" sz="1400" dirty="0">
                <a:effectLst>
                  <a:outerShdw blurRad="50800" dist="50800" dir="5400000" algn="ctr" rotWithShape="0">
                    <a:schemeClr val="accent1"/>
                  </a:outerShdw>
                  <a:reflection stA="45000" endPos="0" dist="50800" dir="5400000" sy="-100000" algn="bl" rotWithShape="0"/>
                </a:effectLst>
                <a:latin typeface="Consolas" panose="020B0609020204030204" pitchFamily="49" charset="0"/>
              </a:rPr>
              <a:t>All data sent over the network must use HTTPS or other secure communication protocols to stop attackers from stealing or changing data during transmission.</a:t>
            </a:r>
          </a:p>
          <a:p>
            <a:pPr marL="228600" lvl="0" indent="-228600" algn="l" rtl="0">
              <a:lnSpc>
                <a:spcPct val="100000"/>
              </a:lnSpc>
              <a:spcBef>
                <a:spcPts val="1200"/>
              </a:spcBef>
              <a:spcAft>
                <a:spcPts val="1200"/>
              </a:spcAft>
              <a:buClr>
                <a:schemeClr val="lt1"/>
              </a:buClr>
              <a:buSzPts val="2000"/>
              <a:buChar char="•"/>
            </a:pPr>
            <a:r>
              <a:rPr lang="en-US" sz="1600" b="1" dirty="0">
                <a:effectLst>
                  <a:glow rad="254000">
                    <a:schemeClr val="accent1">
                      <a:alpha val="60000"/>
                    </a:schemeClr>
                  </a:glow>
                  <a:outerShdw blurRad="50800" dist="50800" dir="5400000" algn="ctr" rotWithShape="0">
                    <a:schemeClr val="accent1"/>
                  </a:outerShdw>
                  <a:reflection stA="45000" endPos="0" dist="50800" dir="5400000" sy="-100000" algn="bl" rotWithShape="0"/>
                </a:effectLst>
                <a:latin typeface="Consolas" panose="020B0609020204030204" pitchFamily="49" charset="0"/>
              </a:rPr>
              <a:t>Encryption at Rest</a:t>
            </a:r>
            <a:br>
              <a:rPr lang="en-US" sz="1400" dirty="0">
                <a:effectLst>
                  <a:outerShdw blurRad="50800" dist="50800" dir="5400000" algn="ctr" rotWithShape="0">
                    <a:schemeClr val="accent1"/>
                  </a:outerShdw>
                  <a:reflection stA="45000" endPos="0" dist="50800" dir="5400000" sy="-100000" algn="bl" rotWithShape="0"/>
                </a:effectLst>
                <a:latin typeface="Consolas" panose="020B0609020204030204" pitchFamily="49" charset="0"/>
              </a:rPr>
            </a:br>
            <a:r>
              <a:rPr lang="en-US" sz="1400" dirty="0">
                <a:effectLst>
                  <a:outerShdw blurRad="50800" dist="50800" dir="5400000" algn="ctr" rotWithShape="0">
                    <a:schemeClr val="accent1"/>
                  </a:outerShdw>
                  <a:reflection stA="45000" endPos="0" dist="50800" dir="5400000" sy="-100000" algn="bl" rotWithShape="0"/>
                </a:effectLst>
                <a:latin typeface="Consolas" panose="020B0609020204030204" pitchFamily="49" charset="0"/>
              </a:rPr>
              <a:t>Data is protected while it is stored on a hard drive or server.</a:t>
            </a:r>
            <a:br>
              <a:rPr lang="en-US" sz="1400" dirty="0">
                <a:effectLst>
                  <a:outerShdw blurRad="50800" dist="50800" dir="5400000" algn="ctr" rotWithShape="0">
                    <a:schemeClr val="accent1"/>
                  </a:outerShdw>
                  <a:reflection stA="45000" endPos="0" dist="50800" dir="5400000" sy="-100000" algn="bl" rotWithShape="0"/>
                </a:effectLst>
                <a:latin typeface="Consolas" panose="020B0609020204030204" pitchFamily="49" charset="0"/>
              </a:rPr>
            </a:br>
            <a:r>
              <a:rPr lang="en-US" sz="1400" dirty="0">
                <a:effectLst>
                  <a:outerShdw blurRad="50800" dist="50800" dir="5400000" algn="ctr" rotWithShape="0">
                    <a:schemeClr val="accent1"/>
                  </a:outerShdw>
                  <a:reflection stA="45000" endPos="0" dist="50800" dir="5400000" sy="-100000" algn="bl" rotWithShape="0"/>
                </a:effectLst>
                <a:latin typeface="Consolas" panose="020B0609020204030204" pitchFamily="49" charset="0"/>
              </a:rPr>
              <a:t>This policy covers sensitive data stored in files, databases, or backups.</a:t>
            </a:r>
            <a:br>
              <a:rPr lang="en-US" sz="1400" dirty="0">
                <a:effectLst>
                  <a:outerShdw blurRad="50800" dist="50800" dir="5400000" algn="ctr" rotWithShape="0">
                    <a:schemeClr val="accent1"/>
                  </a:outerShdw>
                  <a:reflection stA="45000" endPos="0" dist="50800" dir="5400000" sy="-100000" algn="bl" rotWithShape="0"/>
                </a:effectLst>
                <a:latin typeface="Consolas" panose="020B0609020204030204" pitchFamily="49" charset="0"/>
              </a:rPr>
            </a:br>
            <a:r>
              <a:rPr lang="en-US" sz="1400" dirty="0">
                <a:effectLst>
                  <a:outerShdw blurRad="50800" dist="50800" dir="5400000" algn="ctr" rotWithShape="0">
                    <a:schemeClr val="accent1"/>
                  </a:outerShdw>
                  <a:reflection stA="45000" endPos="0" dist="50800" dir="5400000" sy="-100000" algn="bl" rotWithShape="0"/>
                </a:effectLst>
                <a:latin typeface="Consolas" panose="020B0609020204030204" pitchFamily="49" charset="0"/>
              </a:rPr>
              <a:t>Encryption at rest protects data if someone gains physical access to a device.</a:t>
            </a:r>
            <a:br>
              <a:rPr lang="en-US" sz="1400" dirty="0">
                <a:effectLst>
                  <a:outerShdw blurRad="50800" dist="50800" dir="5400000" algn="ctr" rotWithShape="0">
                    <a:schemeClr val="accent1"/>
                  </a:outerShdw>
                  <a:reflection stA="45000" endPos="0" dist="50800" dir="5400000" sy="-100000" algn="bl" rotWithShape="0"/>
                </a:effectLst>
                <a:latin typeface="Consolas" panose="020B0609020204030204" pitchFamily="49" charset="0"/>
              </a:rPr>
            </a:br>
            <a:r>
              <a:rPr lang="en-US" sz="1400" dirty="0">
                <a:effectLst>
                  <a:outerShdw blurRad="50800" dist="50800" dir="5400000" algn="ctr" rotWithShape="0">
                    <a:schemeClr val="accent1"/>
                  </a:outerShdw>
                  <a:reflection stA="45000" endPos="0" dist="50800" dir="5400000" sy="-100000" algn="bl" rotWithShape="0"/>
                </a:effectLst>
                <a:latin typeface="Consolas" panose="020B0609020204030204" pitchFamily="49" charset="0"/>
              </a:rPr>
              <a:t>All stored data must use strong and approved encryption methods.</a:t>
            </a:r>
          </a:p>
          <a:p>
            <a:pPr marL="228600" lvl="0" indent="-228600" algn="l" rtl="0">
              <a:lnSpc>
                <a:spcPct val="100000"/>
              </a:lnSpc>
              <a:spcBef>
                <a:spcPts val="1200"/>
              </a:spcBef>
              <a:spcAft>
                <a:spcPts val="1200"/>
              </a:spcAft>
              <a:buClr>
                <a:schemeClr val="lt1"/>
              </a:buClr>
              <a:buSzPts val="2000"/>
              <a:buChar char="•"/>
            </a:pPr>
            <a:r>
              <a:rPr lang="en-US" sz="1600" b="1" dirty="0">
                <a:effectLst>
                  <a:glow rad="254000">
                    <a:schemeClr val="accent1">
                      <a:alpha val="60000"/>
                    </a:schemeClr>
                  </a:glow>
                  <a:outerShdw blurRad="50800" dist="50800" dir="5400000" algn="ctr" rotWithShape="0">
                    <a:schemeClr val="accent1"/>
                  </a:outerShdw>
                  <a:reflection stA="45000" endPos="0" dist="50800" dir="5400000" sy="-100000" algn="bl" rotWithShape="0"/>
                </a:effectLst>
                <a:latin typeface="Consolas" panose="020B0609020204030204" pitchFamily="49" charset="0"/>
              </a:rPr>
              <a:t>Encryption in Use</a:t>
            </a:r>
            <a:br>
              <a:rPr lang="en-US" sz="1400" dirty="0">
                <a:effectLst>
                  <a:outerShdw blurRad="50800" dist="50800" dir="5400000" algn="ctr" rotWithShape="0">
                    <a:schemeClr val="accent1"/>
                  </a:outerShdw>
                  <a:reflection stA="45000" endPos="0" dist="50800" dir="5400000" sy="-100000" algn="bl" rotWithShape="0"/>
                </a:effectLst>
                <a:latin typeface="Consolas" panose="020B0609020204030204" pitchFamily="49" charset="0"/>
              </a:rPr>
            </a:br>
            <a:r>
              <a:rPr lang="en-US" sz="1400" dirty="0">
                <a:effectLst>
                  <a:outerShdw blurRad="50800" dist="50800" dir="5400000" algn="ctr" rotWithShape="0">
                    <a:schemeClr val="accent1"/>
                  </a:outerShdw>
                  <a:reflection stA="45000" endPos="0" dist="50800" dir="5400000" sy="-100000" algn="bl" rotWithShape="0"/>
                </a:effectLst>
                <a:latin typeface="Consolas" panose="020B0609020204030204" pitchFamily="49" charset="0"/>
              </a:rPr>
              <a:t>Data is protected while it is being used by a program.</a:t>
            </a:r>
            <a:br>
              <a:rPr lang="en-US" sz="1400" dirty="0">
                <a:effectLst>
                  <a:outerShdw blurRad="50800" dist="50800" dir="5400000" algn="ctr" rotWithShape="0">
                    <a:schemeClr val="accent1"/>
                  </a:outerShdw>
                  <a:reflection stA="45000" endPos="0" dist="50800" dir="5400000" sy="-100000" algn="bl" rotWithShape="0"/>
                </a:effectLst>
                <a:latin typeface="Consolas" panose="020B0609020204030204" pitchFamily="49" charset="0"/>
              </a:rPr>
            </a:br>
            <a:r>
              <a:rPr lang="en-US" sz="1400" dirty="0">
                <a:effectLst>
                  <a:outerShdw blurRad="50800" dist="50800" dir="5400000" algn="ctr" rotWithShape="0">
                    <a:schemeClr val="accent1"/>
                  </a:outerShdw>
                  <a:reflection stA="45000" endPos="0" dist="50800" dir="5400000" sy="-100000" algn="bl" rotWithShape="0"/>
                </a:effectLst>
                <a:latin typeface="Consolas" panose="020B0609020204030204" pitchFamily="49" charset="0"/>
              </a:rPr>
              <a:t>This applies to sensitive information in memory during processing.</a:t>
            </a:r>
            <a:br>
              <a:rPr lang="en-US" sz="1400" dirty="0">
                <a:effectLst>
                  <a:outerShdw blurRad="50800" dist="50800" dir="5400000" algn="ctr" rotWithShape="0">
                    <a:schemeClr val="accent1"/>
                  </a:outerShdw>
                  <a:reflection stA="45000" endPos="0" dist="50800" dir="5400000" sy="-100000" algn="bl" rotWithShape="0"/>
                </a:effectLst>
                <a:latin typeface="Consolas" panose="020B0609020204030204" pitchFamily="49" charset="0"/>
              </a:rPr>
            </a:br>
            <a:r>
              <a:rPr lang="en-US" sz="1400" dirty="0">
                <a:effectLst>
                  <a:outerShdw blurRad="50800" dist="50800" dir="5400000" algn="ctr" rotWithShape="0">
                    <a:schemeClr val="accent1"/>
                  </a:outerShdw>
                  <a:reflection stA="45000" endPos="0" dist="50800" dir="5400000" sy="-100000" algn="bl" rotWithShape="0"/>
                </a:effectLst>
                <a:latin typeface="Consolas" panose="020B0609020204030204" pitchFamily="49" charset="0"/>
              </a:rPr>
              <a:t>It is harder to do but important because data in memory can be leaked if it is dumped or read.</a:t>
            </a:r>
            <a:br>
              <a:rPr lang="en-US" sz="1400" dirty="0">
                <a:effectLst>
                  <a:outerShdw blurRad="50800" dist="50800" dir="5400000" algn="ctr" rotWithShape="0">
                    <a:schemeClr val="accent1"/>
                  </a:outerShdw>
                  <a:reflection stA="45000" endPos="0" dist="50800" dir="5400000" sy="-100000" algn="bl" rotWithShape="0"/>
                </a:effectLst>
                <a:latin typeface="Consolas" panose="020B0609020204030204" pitchFamily="49" charset="0"/>
              </a:rPr>
            </a:br>
            <a:r>
              <a:rPr lang="en-US" sz="1400" dirty="0">
                <a:effectLst>
                  <a:outerShdw blurRad="50800" dist="50800" dir="5400000" algn="ctr" rotWithShape="0">
                    <a:schemeClr val="accent1"/>
                  </a:outerShdw>
                  <a:reflection stA="45000" endPos="0" dist="50800" dir="5400000" sy="-100000" algn="bl" rotWithShape="0"/>
                </a:effectLst>
                <a:latin typeface="Consolas" panose="020B0609020204030204" pitchFamily="49" charset="0"/>
              </a:rPr>
              <a:t>Best practices include isolating memory and using secure containers.</a:t>
            </a:r>
          </a:p>
          <a:p>
            <a:pPr marL="228600" lvl="0" indent="-88900" algn="l" rtl="0">
              <a:lnSpc>
                <a:spcPct val="90000"/>
              </a:lnSpc>
              <a:spcBef>
                <a:spcPts val="1000"/>
              </a:spcBef>
              <a:spcAft>
                <a:spcPts val="0"/>
              </a:spcAft>
              <a:buClr>
                <a:schemeClr val="lt1"/>
              </a:buClr>
              <a:buSzPts val="2200"/>
              <a:buNone/>
            </a:pPr>
            <a:endParaRPr dirty="0"/>
          </a:p>
        </p:txBody>
      </p:sp>
      <p:pic>
        <p:nvPicPr>
          <p:cNvPr id="183" name="Google Shape;183;p7"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12" name="Audio 11">
            <a:hlinkClick r:id="" action="ppaction://media"/>
            <a:extLst>
              <a:ext uri="{FF2B5EF4-FFF2-40B4-BE49-F238E27FC236}">
                <a16:creationId xmlns:a16="http://schemas.microsoft.com/office/drawing/2014/main" id="{9F0D05EC-0CDD-6A29-D577-793E2478511A}"/>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118750" t="-118750" r="-118750" b="-118750"/>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4658"/>
    </mc:Choice>
    <mc:Fallback xmlns="">
      <p:transition spd="slow" advTm="4465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3015066" y="639315"/>
            <a:ext cx="5416012" cy="129302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000"/>
              <a:buFont typeface="Century Gothic"/>
              <a:buNone/>
            </a:pPr>
            <a:r>
              <a:rPr lang="en-US" dirty="0">
                <a:effectLst>
                  <a:glow rad="190500">
                    <a:srgbClr val="62FFFF">
                      <a:alpha val="40000"/>
                    </a:srgbClr>
                  </a:glow>
                </a:effectLst>
                <a:latin typeface="Consolas" panose="020B0609020204030204" pitchFamily="49" charset="0"/>
              </a:rPr>
              <a:t>TRIPLE-A POLICIES</a:t>
            </a:r>
            <a:endParaRPr dirty="0">
              <a:effectLst>
                <a:glow rad="190500">
                  <a:srgbClr val="62FFFF">
                    <a:alpha val="40000"/>
                  </a:srgbClr>
                </a:glow>
              </a:effectLst>
              <a:latin typeface="Consolas" panose="020B0609020204030204" pitchFamily="49" charset="0"/>
            </a:endParaRPr>
          </a:p>
        </p:txBody>
      </p:sp>
      <p:sp>
        <p:nvSpPr>
          <p:cNvPr id="189" name="Google Shape;189;p8"/>
          <p:cNvSpPr txBox="1">
            <a:spLocks noGrp="1"/>
          </p:cNvSpPr>
          <p:nvPr>
            <p:ph type="body" idx="1"/>
          </p:nvPr>
        </p:nvSpPr>
        <p:spPr>
          <a:xfrm>
            <a:off x="557939" y="1611824"/>
            <a:ext cx="10948261" cy="4606861"/>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rtl="0">
              <a:lnSpc>
                <a:spcPct val="120000"/>
              </a:lnSpc>
              <a:spcBef>
                <a:spcPts val="600"/>
              </a:spcBef>
              <a:spcAft>
                <a:spcPts val="600"/>
              </a:spcAft>
              <a:buClr>
                <a:schemeClr val="lt1"/>
              </a:buClr>
              <a:buSzPts val="2400"/>
              <a:buChar char="•"/>
            </a:pPr>
            <a:r>
              <a:rPr lang="en-US" sz="2000" b="1" dirty="0">
                <a:effectLst>
                  <a:glow rad="190500">
                    <a:srgbClr val="62FFFF">
                      <a:alpha val="40000"/>
                    </a:srgbClr>
                  </a:glow>
                </a:effectLst>
                <a:latin typeface="Consolas" panose="020B0609020204030204" pitchFamily="49" charset="0"/>
              </a:rPr>
              <a:t>Authentication</a:t>
            </a:r>
            <a:br>
              <a:rPr lang="en-US" sz="2000" dirty="0">
                <a:latin typeface="Consolas" panose="020B0609020204030204" pitchFamily="49" charset="0"/>
              </a:rPr>
            </a:br>
            <a:r>
              <a:rPr lang="en-US" sz="2000" dirty="0">
                <a:latin typeface="Consolas" panose="020B0609020204030204" pitchFamily="49" charset="0"/>
              </a:rPr>
              <a:t>Users must prove their identity using strong authentication methods. This includes username and password combinations and require multi factor authentication. Authentication prevents unauthorized users from accessing systems.</a:t>
            </a:r>
          </a:p>
          <a:p>
            <a:pPr marL="228600" lvl="0" indent="-228600" rtl="0">
              <a:lnSpc>
                <a:spcPct val="120000"/>
              </a:lnSpc>
              <a:spcBef>
                <a:spcPts val="600"/>
              </a:spcBef>
              <a:spcAft>
                <a:spcPts val="600"/>
              </a:spcAft>
              <a:buClr>
                <a:schemeClr val="lt1"/>
              </a:buClr>
              <a:buSzPts val="2400"/>
              <a:buChar char="•"/>
            </a:pPr>
            <a:r>
              <a:rPr lang="en-US" b="1" dirty="0">
                <a:effectLst>
                  <a:glow rad="190500">
                    <a:srgbClr val="62FFFF">
                      <a:alpha val="40000"/>
                    </a:srgbClr>
                  </a:glow>
                </a:effectLst>
                <a:latin typeface="Consolas" panose="020B0609020204030204" pitchFamily="49" charset="0"/>
              </a:rPr>
              <a:t>Authorization</a:t>
            </a:r>
            <a:br>
              <a:rPr lang="en-US" dirty="0">
                <a:latin typeface="Consolas" panose="020B0609020204030204" pitchFamily="49" charset="0"/>
              </a:rPr>
            </a:br>
            <a:r>
              <a:rPr lang="en-US" dirty="0">
                <a:latin typeface="Consolas" panose="020B0609020204030204" pitchFamily="49" charset="0"/>
              </a:rPr>
              <a:t>After authentication, users are granted specific access rights. Users can only access data and functions they are allowed to use. Permissions must be reviewed and updated as users change roles.</a:t>
            </a:r>
            <a:endParaRPr lang="en-US" sz="2000" dirty="0">
              <a:latin typeface="Consolas" panose="020B0609020204030204" pitchFamily="49" charset="0"/>
            </a:endParaRPr>
          </a:p>
          <a:p>
            <a:pPr marL="228600" lvl="0" indent="-228600" algn="l" rtl="0">
              <a:lnSpc>
                <a:spcPct val="120000"/>
              </a:lnSpc>
              <a:spcBef>
                <a:spcPts val="600"/>
              </a:spcBef>
              <a:spcAft>
                <a:spcPts val="600"/>
              </a:spcAft>
              <a:buClr>
                <a:schemeClr val="lt1"/>
              </a:buClr>
              <a:buSzPts val="2400"/>
              <a:buChar char="•"/>
            </a:pPr>
            <a:r>
              <a:rPr lang="en-US" b="1" dirty="0">
                <a:effectLst>
                  <a:glow rad="190500">
                    <a:srgbClr val="62FFFF">
                      <a:alpha val="40000"/>
                    </a:srgbClr>
                  </a:glow>
                </a:effectLst>
                <a:latin typeface="Consolas" panose="020B0609020204030204" pitchFamily="49" charset="0"/>
              </a:rPr>
              <a:t>Accounting</a:t>
            </a:r>
            <a:br>
              <a:rPr lang="en-US" dirty="0">
                <a:latin typeface="Consolas" panose="020B0609020204030204" pitchFamily="49" charset="0"/>
              </a:rPr>
            </a:br>
            <a:r>
              <a:rPr lang="en-US" dirty="0">
                <a:latin typeface="Consolas" panose="020B0609020204030204" pitchFamily="49" charset="0"/>
              </a:rPr>
              <a:t>All user actions must be recorded in secure logs. This includes logging access to files, changes to settings, and account modifications. Reviewing logs helps find unusual activity and investigate security issues.</a:t>
            </a:r>
            <a:endParaRPr dirty="0">
              <a:latin typeface="Consolas" panose="020B0609020204030204" pitchFamily="49" charset="0"/>
            </a:endParaRPr>
          </a:p>
        </p:txBody>
      </p:sp>
      <p:pic>
        <p:nvPicPr>
          <p:cNvPr id="190" name="Google Shape;190;p8"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14" name="Audio 13">
            <a:hlinkClick r:id="" action="ppaction://media"/>
            <a:extLst>
              <a:ext uri="{FF2B5EF4-FFF2-40B4-BE49-F238E27FC236}">
                <a16:creationId xmlns:a16="http://schemas.microsoft.com/office/drawing/2014/main" id="{8615A53C-46CB-A165-A3A1-C67EE4743592}"/>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118750" t="-118750" r="-118750" b="-118750"/>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1762"/>
    </mc:Choice>
    <mc:Fallback xmlns="">
      <p:transition spd="slow" advTm="4176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3074" name="Picture 2" descr="Vector illustration. Software programming concept. Glowing numbers and dots. Digital data. Binary code. Technological style. Design element for website template, web banner, advertising wallpaper Vector illustration. Software programming concept. Glowing numbers and dots. Digital data. Binary code. Technological style. Design element for website template, web banner, advertising wallpaper coding background stock illustrations">
            <a:extLst>
              <a:ext uri="{FF2B5EF4-FFF2-40B4-BE49-F238E27FC236}">
                <a16:creationId xmlns:a16="http://schemas.microsoft.com/office/drawing/2014/main" id="{14563DB7-3E77-2198-80E1-6D9873A8FCB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30" y="0"/>
            <a:ext cx="12200860" cy="6858000"/>
          </a:xfrm>
          <a:prstGeom prst="rect">
            <a:avLst/>
          </a:prstGeom>
          <a:noFill/>
          <a:extLst>
            <a:ext uri="{909E8E84-426E-40DD-AFC4-6F175D3DCCD1}">
              <a14:hiddenFill xmlns:a14="http://schemas.microsoft.com/office/drawing/2010/main">
                <a:solidFill>
                  <a:srgbClr val="FFFFFF"/>
                </a:solidFill>
              </a14:hiddenFill>
            </a:ext>
          </a:extLst>
        </p:spPr>
      </p:pic>
      <p:sp>
        <p:nvSpPr>
          <p:cNvPr id="195" name="Google Shape;195;g9504e29505_0_0"/>
          <p:cNvSpPr txBox="1">
            <a:spLocks noGrp="1"/>
          </p:cNvSpPr>
          <p:nvPr>
            <p:ph type="title"/>
          </p:nvPr>
        </p:nvSpPr>
        <p:spPr>
          <a:xfrm>
            <a:off x="1214521" y="307841"/>
            <a:ext cx="8861508" cy="129302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b="1" dirty="0">
                <a:solidFill>
                  <a:srgbClr val="03D9E9"/>
                </a:solidFill>
                <a:effectLst>
                  <a:glow rad="190500">
                    <a:schemeClr val="accent1">
                      <a:alpha val="40000"/>
                    </a:schemeClr>
                  </a:glow>
                </a:effectLst>
                <a:latin typeface="Consolas" panose="020B0609020204030204" pitchFamily="49" charset="0"/>
              </a:rPr>
              <a:t>Unit Testing: </a:t>
            </a:r>
            <a:r>
              <a:rPr lang="en-US" dirty="0">
                <a:solidFill>
                  <a:srgbClr val="D5AA4B"/>
                </a:solidFill>
                <a:effectLst>
                  <a:glow rad="190500">
                    <a:schemeClr val="accent1">
                      <a:alpha val="40000"/>
                    </a:schemeClr>
                  </a:glow>
                </a:effectLst>
                <a:latin typeface="Consolas" panose="020B0609020204030204" pitchFamily="49" charset="0"/>
              </a:rPr>
              <a:t>Safe String Copy</a:t>
            </a:r>
            <a:endParaRPr dirty="0">
              <a:solidFill>
                <a:srgbClr val="D5AA4B"/>
              </a:solidFill>
              <a:effectLst>
                <a:glow rad="190500">
                  <a:schemeClr val="accent1">
                    <a:alpha val="40000"/>
                  </a:schemeClr>
                </a:glow>
              </a:effectLst>
              <a:latin typeface="Consolas" panose="020B0609020204030204" pitchFamily="49" charset="0"/>
            </a:endParaRPr>
          </a:p>
        </p:txBody>
      </p:sp>
      <p:pic>
        <p:nvPicPr>
          <p:cNvPr id="197" name="Google Shape;197;g9504e29505_0_0" descr="Green Pace logo"/>
          <p:cNvPicPr preferRelativeResize="0"/>
          <p:nvPr/>
        </p:nvPicPr>
        <p:blipFill>
          <a:blip r:embed="rId7">
            <a:alphaModFix/>
          </a:blip>
          <a:stretch>
            <a:fillRect/>
          </a:stretch>
        </p:blipFill>
        <p:spPr>
          <a:xfrm>
            <a:off x="11084074" y="5440526"/>
            <a:ext cx="886601" cy="1149225"/>
          </a:xfrm>
          <a:prstGeom prst="rect">
            <a:avLst/>
          </a:prstGeom>
          <a:noFill/>
          <a:ln>
            <a:noFill/>
          </a:ln>
        </p:spPr>
      </p:pic>
      <p:pic>
        <p:nvPicPr>
          <p:cNvPr id="15" name="Picture 14">
            <a:extLst>
              <a:ext uri="{FF2B5EF4-FFF2-40B4-BE49-F238E27FC236}">
                <a16:creationId xmlns:a16="http://schemas.microsoft.com/office/drawing/2014/main" id="{01EB1A63-BDBA-4FB5-3778-2F503ACE2A81}"/>
              </a:ext>
            </a:extLst>
          </p:cNvPr>
          <p:cNvPicPr>
            <a:picLocks noChangeAspect="1"/>
          </p:cNvPicPr>
          <p:nvPr/>
        </p:nvPicPr>
        <p:blipFill>
          <a:blip r:embed="rId8"/>
          <a:stretch>
            <a:fillRect/>
          </a:stretch>
        </p:blipFill>
        <p:spPr>
          <a:xfrm>
            <a:off x="5262646" y="4560926"/>
            <a:ext cx="4486275" cy="2028825"/>
          </a:xfrm>
          <a:prstGeom prst="rect">
            <a:avLst/>
          </a:prstGeom>
          <a:effectLst>
            <a:glow rad="101600">
              <a:srgbClr val="D5AA4B">
                <a:alpha val="60000"/>
              </a:srgbClr>
            </a:glow>
          </a:effectLst>
        </p:spPr>
      </p:pic>
      <p:pic>
        <p:nvPicPr>
          <p:cNvPr id="13" name="Picture 12">
            <a:extLst>
              <a:ext uri="{FF2B5EF4-FFF2-40B4-BE49-F238E27FC236}">
                <a16:creationId xmlns:a16="http://schemas.microsoft.com/office/drawing/2014/main" id="{33A525A3-AB9C-F5EE-9BA0-8EE87BDB4D95}"/>
              </a:ext>
            </a:extLst>
          </p:cNvPr>
          <p:cNvPicPr>
            <a:picLocks noChangeAspect="1"/>
          </p:cNvPicPr>
          <p:nvPr/>
        </p:nvPicPr>
        <p:blipFill>
          <a:blip r:embed="rId9"/>
          <a:stretch>
            <a:fillRect/>
          </a:stretch>
        </p:blipFill>
        <p:spPr>
          <a:xfrm>
            <a:off x="1024021" y="1376401"/>
            <a:ext cx="8724900" cy="2943225"/>
          </a:xfrm>
          <a:prstGeom prst="rect">
            <a:avLst/>
          </a:prstGeom>
          <a:effectLst>
            <a:glow rad="101600">
              <a:srgbClr val="D5AA4B">
                <a:alpha val="60000"/>
              </a:srgbClr>
            </a:glow>
          </a:effectLst>
        </p:spPr>
      </p:pic>
      <p:pic>
        <p:nvPicPr>
          <p:cNvPr id="21" name="Audio 20">
            <a:hlinkClick r:id="" action="ppaction://media"/>
            <a:extLst>
              <a:ext uri="{FF2B5EF4-FFF2-40B4-BE49-F238E27FC236}">
                <a16:creationId xmlns:a16="http://schemas.microsoft.com/office/drawing/2014/main" id="{10D0416C-6951-B856-EA40-58DC5A0B0849}"/>
              </a:ext>
            </a:extLst>
          </p:cNvPr>
          <p:cNvPicPr>
            <a:picLocks noChangeAspect="1"/>
          </p:cNvPicPr>
          <p:nvPr>
            <a:audioFile r:link="rId3"/>
            <p:extLst>
              <p:ext uri="{DAA4B4D4-6D71-4841-9C94-3DE7FCFB9230}">
                <p14:media xmlns:p14="http://schemas.microsoft.com/office/powerpoint/2010/main" r:embed="rId2"/>
              </p:ext>
            </p:extLst>
          </p:nvPr>
        </p:nvPicPr>
        <p:blipFill>
          <a:blip r:embed="rId10"/>
          <a:srcRect l="-118750" t="-118750" r="-118750" b="-118750"/>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7814"/>
    </mc:Choice>
    <mc:Fallback xmlns="">
      <p:transition spd="slow" advTm="1781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Vector illustration. Software programming concept. Glowing numbers and dots. Digital data. Binary code. Technological style. Design element for website template, web banner, advertising wallpaper Vector illustration. Software programming concept. Glowing numbers and dots. Digital data. Binary code. Technological style. Design element for website template, web banner, advertising wallpaper coding background stock illustrations">
            <a:extLst>
              <a:ext uri="{FF2B5EF4-FFF2-40B4-BE49-F238E27FC236}">
                <a16:creationId xmlns:a16="http://schemas.microsoft.com/office/drawing/2014/main" id="{4079B097-8900-2F10-D202-B53E711925D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30" y="0"/>
            <a:ext cx="1220086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95;g9504e29505_0_0">
            <a:extLst>
              <a:ext uri="{FF2B5EF4-FFF2-40B4-BE49-F238E27FC236}">
                <a16:creationId xmlns:a16="http://schemas.microsoft.com/office/drawing/2014/main" id="{9C3F94EA-F3E9-65BA-7E8F-6C05180886FA}"/>
              </a:ext>
            </a:extLst>
          </p:cNvPr>
          <p:cNvSpPr txBox="1">
            <a:spLocks/>
          </p:cNvSpPr>
          <p:nvPr/>
        </p:nvSpPr>
        <p:spPr>
          <a:xfrm>
            <a:off x="1738313" y="49041"/>
            <a:ext cx="10453687" cy="127965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SzPts val="1800"/>
            </a:pPr>
            <a:r>
              <a:rPr lang="en-US" sz="4000" b="1" dirty="0">
                <a:solidFill>
                  <a:srgbClr val="03D9E9"/>
                </a:solidFill>
                <a:effectLst>
                  <a:glow rad="190500">
                    <a:schemeClr val="accent1">
                      <a:alpha val="40000"/>
                    </a:schemeClr>
                  </a:glow>
                </a:effectLst>
                <a:latin typeface="Consolas" panose="020B0609020204030204" pitchFamily="49" charset="0"/>
              </a:rPr>
              <a:t>Unit Testing: </a:t>
            </a:r>
            <a:r>
              <a:rPr lang="en-US" sz="4000" dirty="0">
                <a:solidFill>
                  <a:srgbClr val="D5AA4B"/>
                </a:solidFill>
                <a:effectLst>
                  <a:glow rad="190500">
                    <a:schemeClr val="accent1">
                      <a:alpha val="40000"/>
                    </a:schemeClr>
                  </a:glow>
                </a:effectLst>
                <a:latin typeface="Consolas" panose="020B0609020204030204" pitchFamily="49" charset="0"/>
              </a:rPr>
              <a:t>Integer Overflow</a:t>
            </a:r>
          </a:p>
        </p:txBody>
      </p:sp>
      <p:pic>
        <p:nvPicPr>
          <p:cNvPr id="4" name="Picture 3">
            <a:extLst>
              <a:ext uri="{FF2B5EF4-FFF2-40B4-BE49-F238E27FC236}">
                <a16:creationId xmlns:a16="http://schemas.microsoft.com/office/drawing/2014/main" id="{526E84DD-2DD5-7309-2654-8225563BA54E}"/>
              </a:ext>
            </a:extLst>
          </p:cNvPr>
          <p:cNvPicPr>
            <a:picLocks noChangeAspect="1"/>
          </p:cNvPicPr>
          <p:nvPr/>
        </p:nvPicPr>
        <p:blipFill>
          <a:blip r:embed="rId6"/>
          <a:stretch>
            <a:fillRect/>
          </a:stretch>
        </p:blipFill>
        <p:spPr>
          <a:xfrm>
            <a:off x="1981200" y="1377951"/>
            <a:ext cx="8229600" cy="2914650"/>
          </a:xfrm>
          <a:prstGeom prst="rect">
            <a:avLst/>
          </a:prstGeom>
          <a:effectLst>
            <a:glow rad="101600">
              <a:srgbClr val="D5AA4B">
                <a:alpha val="60000"/>
              </a:srgbClr>
            </a:glow>
          </a:effectLst>
        </p:spPr>
      </p:pic>
      <p:pic>
        <p:nvPicPr>
          <p:cNvPr id="6" name="Picture 5">
            <a:extLst>
              <a:ext uri="{FF2B5EF4-FFF2-40B4-BE49-F238E27FC236}">
                <a16:creationId xmlns:a16="http://schemas.microsoft.com/office/drawing/2014/main" id="{4D59226C-74F7-590F-7AD0-8B00EA34E4F5}"/>
              </a:ext>
            </a:extLst>
          </p:cNvPr>
          <p:cNvPicPr>
            <a:picLocks noChangeAspect="1"/>
          </p:cNvPicPr>
          <p:nvPr/>
        </p:nvPicPr>
        <p:blipFill>
          <a:blip r:embed="rId7"/>
          <a:stretch>
            <a:fillRect/>
          </a:stretch>
        </p:blipFill>
        <p:spPr>
          <a:xfrm>
            <a:off x="5534025" y="4440240"/>
            <a:ext cx="4676775" cy="2219325"/>
          </a:xfrm>
          <a:prstGeom prst="rect">
            <a:avLst/>
          </a:prstGeom>
          <a:effectLst>
            <a:glow rad="101600">
              <a:srgbClr val="D5AA4B">
                <a:alpha val="60000"/>
              </a:srgbClr>
            </a:glow>
          </a:effectLst>
        </p:spPr>
      </p:pic>
      <p:pic>
        <p:nvPicPr>
          <p:cNvPr id="7" name="Google Shape;190;p8" descr="Green Pace logo">
            <a:extLst>
              <a:ext uri="{FF2B5EF4-FFF2-40B4-BE49-F238E27FC236}">
                <a16:creationId xmlns:a16="http://schemas.microsoft.com/office/drawing/2014/main" id="{C2331182-ABBF-0589-77E1-022EDD2968E7}"/>
              </a:ext>
            </a:extLst>
          </p:cNvPr>
          <p:cNvPicPr preferRelativeResize="0"/>
          <p:nvPr/>
        </p:nvPicPr>
        <p:blipFill>
          <a:blip r:embed="rId8">
            <a:alphaModFix/>
          </a:blip>
          <a:stretch>
            <a:fillRect/>
          </a:stretch>
        </p:blipFill>
        <p:spPr>
          <a:xfrm>
            <a:off x="11084074" y="5440526"/>
            <a:ext cx="886601" cy="1149225"/>
          </a:xfrm>
          <a:prstGeom prst="rect">
            <a:avLst/>
          </a:prstGeom>
          <a:noFill/>
          <a:ln>
            <a:noFill/>
          </a:ln>
        </p:spPr>
      </p:pic>
      <p:pic>
        <p:nvPicPr>
          <p:cNvPr id="19" name="Audio 18">
            <a:hlinkClick r:id="" action="ppaction://media"/>
            <a:extLst>
              <a:ext uri="{FF2B5EF4-FFF2-40B4-BE49-F238E27FC236}">
                <a16:creationId xmlns:a16="http://schemas.microsoft.com/office/drawing/2014/main" id="{66AA18DF-FA87-ACA0-9DE7-F36E80DD9BC4}"/>
              </a:ext>
            </a:extLst>
          </p:cNvPr>
          <p:cNvPicPr>
            <a:picLocks noChangeAspect="1"/>
          </p:cNvPicPr>
          <p:nvPr>
            <a:audioFile r:link="rId2"/>
            <p:extLst>
              <p:ext uri="{DAA4B4D4-6D71-4841-9C94-3DE7FCFB9230}">
                <p14:media xmlns:p14="http://schemas.microsoft.com/office/powerpoint/2010/main" r:embed="rId1"/>
              </p:ext>
            </p:extLst>
          </p:nvPr>
        </p:nvPicPr>
        <p:blipFill>
          <a:blip r:embed="rId9"/>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672621551"/>
      </p:ext>
    </p:extLst>
  </p:cSld>
  <p:clrMapOvr>
    <a:masterClrMapping/>
  </p:clrMapOvr>
  <mc:AlternateContent xmlns:mc="http://schemas.openxmlformats.org/markup-compatibility/2006" xmlns:p14="http://schemas.microsoft.com/office/powerpoint/2010/main">
    <mc:Choice Requires="p14">
      <p:transition spd="slow" p14:dur="2000" advTm="15086"/>
    </mc:Choice>
    <mc:Fallback xmlns="">
      <p:transition spd="slow" advTm="1508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9"/>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Vector illustration. Software programming concept. Glowing numbers and dots. Digital data. Binary code. Technological style. Design element for website template, web banner, advertising wallpaper Vector illustration. Software programming concept. Glowing numbers and dots. Digital data. Binary code. Technological style. Design element for website template, web banner, advertising wallpaper coding background stock illustrations">
            <a:extLst>
              <a:ext uri="{FF2B5EF4-FFF2-40B4-BE49-F238E27FC236}">
                <a16:creationId xmlns:a16="http://schemas.microsoft.com/office/drawing/2014/main" id="{F8B3EF28-7E28-D787-0584-27205C1B24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30" y="0"/>
            <a:ext cx="1220086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95;g9504e29505_0_0">
            <a:extLst>
              <a:ext uri="{FF2B5EF4-FFF2-40B4-BE49-F238E27FC236}">
                <a16:creationId xmlns:a16="http://schemas.microsoft.com/office/drawing/2014/main" id="{DCAD141A-80EC-46B3-9A0D-5040E18BA658}"/>
              </a:ext>
            </a:extLst>
          </p:cNvPr>
          <p:cNvSpPr txBox="1">
            <a:spLocks/>
          </p:cNvSpPr>
          <p:nvPr/>
        </p:nvSpPr>
        <p:spPr>
          <a:xfrm>
            <a:off x="1331912" y="422141"/>
            <a:ext cx="10453687" cy="127965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SzPts val="1800"/>
            </a:pPr>
            <a:r>
              <a:rPr lang="en-US" sz="4000" b="1" dirty="0">
                <a:solidFill>
                  <a:srgbClr val="03D9E9"/>
                </a:solidFill>
                <a:effectLst>
                  <a:glow rad="190500">
                    <a:schemeClr val="accent1">
                      <a:alpha val="40000"/>
                    </a:schemeClr>
                  </a:glow>
                </a:effectLst>
                <a:latin typeface="Consolas" panose="020B0609020204030204" pitchFamily="49" charset="0"/>
              </a:rPr>
              <a:t>Unit Testing: </a:t>
            </a:r>
            <a:r>
              <a:rPr lang="en-US" sz="4000" dirty="0">
                <a:solidFill>
                  <a:srgbClr val="D5AA4B"/>
                </a:solidFill>
                <a:effectLst>
                  <a:glow rad="190500">
                    <a:schemeClr val="accent1">
                      <a:alpha val="40000"/>
                    </a:schemeClr>
                  </a:glow>
                </a:effectLst>
                <a:latin typeface="Consolas" panose="020B0609020204030204" pitchFamily="49" charset="0"/>
              </a:rPr>
              <a:t>Use After Free</a:t>
            </a:r>
          </a:p>
        </p:txBody>
      </p:sp>
      <p:pic>
        <p:nvPicPr>
          <p:cNvPr id="4" name="Picture 3">
            <a:extLst>
              <a:ext uri="{FF2B5EF4-FFF2-40B4-BE49-F238E27FC236}">
                <a16:creationId xmlns:a16="http://schemas.microsoft.com/office/drawing/2014/main" id="{4B82711D-214B-6369-3889-4C54E8888920}"/>
              </a:ext>
            </a:extLst>
          </p:cNvPr>
          <p:cNvPicPr>
            <a:picLocks noChangeAspect="1"/>
          </p:cNvPicPr>
          <p:nvPr/>
        </p:nvPicPr>
        <p:blipFill>
          <a:blip r:embed="rId6"/>
          <a:stretch>
            <a:fillRect/>
          </a:stretch>
        </p:blipFill>
        <p:spPr>
          <a:xfrm>
            <a:off x="621250" y="1701800"/>
            <a:ext cx="10067388" cy="2419350"/>
          </a:xfrm>
          <a:prstGeom prst="rect">
            <a:avLst/>
          </a:prstGeom>
          <a:effectLst>
            <a:glow rad="101600">
              <a:srgbClr val="D5AA4B">
                <a:alpha val="60000"/>
              </a:srgbClr>
            </a:glow>
          </a:effectLst>
        </p:spPr>
      </p:pic>
      <p:pic>
        <p:nvPicPr>
          <p:cNvPr id="5" name="Google Shape;190;p8" descr="Green Pace logo">
            <a:extLst>
              <a:ext uri="{FF2B5EF4-FFF2-40B4-BE49-F238E27FC236}">
                <a16:creationId xmlns:a16="http://schemas.microsoft.com/office/drawing/2014/main" id="{6581F362-9AB2-5D05-A1F2-BD7BBEAD3121}"/>
              </a:ext>
            </a:extLst>
          </p:cNvPr>
          <p:cNvPicPr preferRelativeResize="0"/>
          <p:nvPr/>
        </p:nvPicPr>
        <p:blipFill>
          <a:blip r:embed="rId7">
            <a:alphaModFix/>
          </a:blip>
          <a:stretch>
            <a:fillRect/>
          </a:stretch>
        </p:blipFill>
        <p:spPr>
          <a:xfrm>
            <a:off x="11084074" y="5440526"/>
            <a:ext cx="886601" cy="1149225"/>
          </a:xfrm>
          <a:prstGeom prst="rect">
            <a:avLst/>
          </a:prstGeom>
          <a:noFill/>
          <a:ln>
            <a:noFill/>
          </a:ln>
        </p:spPr>
      </p:pic>
      <p:pic>
        <p:nvPicPr>
          <p:cNvPr id="7" name="Picture 6">
            <a:extLst>
              <a:ext uri="{FF2B5EF4-FFF2-40B4-BE49-F238E27FC236}">
                <a16:creationId xmlns:a16="http://schemas.microsoft.com/office/drawing/2014/main" id="{6F1ED3F9-98F3-0BC4-A481-3AE4467BE9FB}"/>
              </a:ext>
            </a:extLst>
          </p:cNvPr>
          <p:cNvPicPr>
            <a:picLocks noChangeAspect="1"/>
          </p:cNvPicPr>
          <p:nvPr/>
        </p:nvPicPr>
        <p:blipFill>
          <a:blip r:embed="rId8"/>
          <a:stretch>
            <a:fillRect/>
          </a:stretch>
        </p:blipFill>
        <p:spPr>
          <a:xfrm>
            <a:off x="5745163" y="4321988"/>
            <a:ext cx="4943475" cy="2066925"/>
          </a:xfrm>
          <a:prstGeom prst="rect">
            <a:avLst/>
          </a:prstGeom>
          <a:effectLst>
            <a:glow rad="101600">
              <a:srgbClr val="D5AA4B">
                <a:alpha val="60000"/>
              </a:srgbClr>
            </a:glow>
          </a:effectLst>
        </p:spPr>
      </p:pic>
      <p:pic>
        <p:nvPicPr>
          <p:cNvPr id="13" name="Audio 12">
            <a:hlinkClick r:id="" action="ppaction://media"/>
            <a:extLst>
              <a:ext uri="{FF2B5EF4-FFF2-40B4-BE49-F238E27FC236}">
                <a16:creationId xmlns:a16="http://schemas.microsoft.com/office/drawing/2014/main" id="{D68296DB-5FE1-E932-8AE1-5359E46173FD}"/>
              </a:ext>
            </a:extLst>
          </p:cNvPr>
          <p:cNvPicPr>
            <a:picLocks noChangeAspect="1"/>
          </p:cNvPicPr>
          <p:nvPr>
            <a:audioFile r:link="rId2"/>
            <p:extLst>
              <p:ext uri="{DAA4B4D4-6D71-4841-9C94-3DE7FCFB9230}">
                <p14:media xmlns:p14="http://schemas.microsoft.com/office/powerpoint/2010/main" r:embed="rId1"/>
              </p:ext>
            </p:extLst>
          </p:nvPr>
        </p:nvPicPr>
        <p:blipFill>
          <a:blip r:embed="rId9"/>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790780069"/>
      </p:ext>
    </p:extLst>
  </p:cSld>
  <p:clrMapOvr>
    <a:masterClrMapping/>
  </p:clrMapOvr>
  <mc:AlternateContent xmlns:mc="http://schemas.openxmlformats.org/markup-compatibility/2006" xmlns:p14="http://schemas.microsoft.com/office/powerpoint/2010/main">
    <mc:Choice Requires="p14">
      <p:transition spd="slow" p14:dur="2000" advTm="20013"/>
    </mc:Choice>
    <mc:Fallback xmlns="">
      <p:transition spd="slow" advTm="2001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Vector illustration. Software programming concept. Glowing numbers and dots. Digital data. Binary code. Technological style. Design element for website template, web banner, advertising wallpaper Vector illustration. Software programming concept. Glowing numbers and dots. Digital data. Binary code. Technological style. Design element for website template, web banner, advertising wallpaper coding background stock illustrations">
            <a:extLst>
              <a:ext uri="{FF2B5EF4-FFF2-40B4-BE49-F238E27FC236}">
                <a16:creationId xmlns:a16="http://schemas.microsoft.com/office/drawing/2014/main" id="{B8C0AB59-DCB7-410C-81E4-9AF93BE0E7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30" y="0"/>
            <a:ext cx="1220086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95;g9504e29505_0_0">
            <a:extLst>
              <a:ext uri="{FF2B5EF4-FFF2-40B4-BE49-F238E27FC236}">
                <a16:creationId xmlns:a16="http://schemas.microsoft.com/office/drawing/2014/main" id="{CE8A2CC1-DDD3-D23C-D0C0-A06371D49C0E}"/>
              </a:ext>
            </a:extLst>
          </p:cNvPr>
          <p:cNvSpPr txBox="1">
            <a:spLocks/>
          </p:cNvSpPr>
          <p:nvPr/>
        </p:nvSpPr>
        <p:spPr>
          <a:xfrm>
            <a:off x="656175" y="104641"/>
            <a:ext cx="10871199" cy="127965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SzPts val="1800"/>
            </a:pPr>
            <a:r>
              <a:rPr lang="en-US" sz="4000" b="1" dirty="0">
                <a:solidFill>
                  <a:srgbClr val="03D9E9"/>
                </a:solidFill>
                <a:effectLst>
                  <a:glow rad="190500">
                    <a:schemeClr val="accent1">
                      <a:alpha val="40000"/>
                    </a:schemeClr>
                  </a:glow>
                </a:effectLst>
                <a:latin typeface="Consolas" panose="020B0609020204030204" pitchFamily="49" charset="0"/>
              </a:rPr>
              <a:t>Unit Testing: </a:t>
            </a:r>
            <a:r>
              <a:rPr lang="en-US" sz="4000" dirty="0">
                <a:solidFill>
                  <a:srgbClr val="D5AA4B"/>
                </a:solidFill>
                <a:effectLst>
                  <a:glow rad="190500">
                    <a:schemeClr val="accent1">
                      <a:alpha val="40000"/>
                    </a:schemeClr>
                  </a:glow>
                </a:effectLst>
                <a:latin typeface="Consolas" panose="020B0609020204030204" pitchFamily="49" charset="0"/>
              </a:rPr>
              <a:t>Null Pointer Dereference</a:t>
            </a:r>
          </a:p>
        </p:txBody>
      </p:sp>
      <p:pic>
        <p:nvPicPr>
          <p:cNvPr id="3" name="Google Shape;190;p8" descr="Green Pace logo">
            <a:extLst>
              <a:ext uri="{FF2B5EF4-FFF2-40B4-BE49-F238E27FC236}">
                <a16:creationId xmlns:a16="http://schemas.microsoft.com/office/drawing/2014/main" id="{0FFE1DB6-D2AC-5F94-9FDB-76C8CE6B3678}"/>
              </a:ext>
            </a:extLst>
          </p:cNvPr>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5" name="Picture 4">
            <a:extLst>
              <a:ext uri="{FF2B5EF4-FFF2-40B4-BE49-F238E27FC236}">
                <a16:creationId xmlns:a16="http://schemas.microsoft.com/office/drawing/2014/main" id="{3548D07F-0877-2575-C4FC-35F5CBCE6F8D}"/>
              </a:ext>
            </a:extLst>
          </p:cNvPr>
          <p:cNvPicPr>
            <a:picLocks noChangeAspect="1"/>
          </p:cNvPicPr>
          <p:nvPr/>
        </p:nvPicPr>
        <p:blipFill>
          <a:blip r:embed="rId7"/>
          <a:stretch>
            <a:fillRect/>
          </a:stretch>
        </p:blipFill>
        <p:spPr>
          <a:xfrm>
            <a:off x="1395411" y="1114425"/>
            <a:ext cx="9401175" cy="3000375"/>
          </a:xfrm>
          <a:prstGeom prst="rect">
            <a:avLst/>
          </a:prstGeom>
          <a:effectLst>
            <a:glow rad="101600">
              <a:srgbClr val="D5AA4B">
                <a:alpha val="60000"/>
              </a:srgbClr>
            </a:glow>
          </a:effectLst>
        </p:spPr>
      </p:pic>
      <p:pic>
        <p:nvPicPr>
          <p:cNvPr id="7" name="Picture 6">
            <a:extLst>
              <a:ext uri="{FF2B5EF4-FFF2-40B4-BE49-F238E27FC236}">
                <a16:creationId xmlns:a16="http://schemas.microsoft.com/office/drawing/2014/main" id="{D9FD9DB5-5276-D255-0943-18B689E3741C}"/>
              </a:ext>
            </a:extLst>
          </p:cNvPr>
          <p:cNvPicPr>
            <a:picLocks noChangeAspect="1"/>
          </p:cNvPicPr>
          <p:nvPr/>
        </p:nvPicPr>
        <p:blipFill>
          <a:blip r:embed="rId8"/>
          <a:stretch>
            <a:fillRect/>
          </a:stretch>
        </p:blipFill>
        <p:spPr>
          <a:xfrm>
            <a:off x="6500811" y="4354676"/>
            <a:ext cx="4295775" cy="2171700"/>
          </a:xfrm>
          <a:prstGeom prst="rect">
            <a:avLst/>
          </a:prstGeom>
          <a:effectLst>
            <a:glow rad="101600">
              <a:srgbClr val="D5AA4B">
                <a:alpha val="60000"/>
              </a:srgbClr>
            </a:glow>
          </a:effectLst>
        </p:spPr>
      </p:pic>
      <p:pic>
        <p:nvPicPr>
          <p:cNvPr id="26" name="Audio 25">
            <a:hlinkClick r:id="" action="ppaction://media"/>
            <a:extLst>
              <a:ext uri="{FF2B5EF4-FFF2-40B4-BE49-F238E27FC236}">
                <a16:creationId xmlns:a16="http://schemas.microsoft.com/office/drawing/2014/main" id="{536F1795-9A86-FA01-1949-9C7CA9DEA205}"/>
              </a:ext>
            </a:extLst>
          </p:cNvPr>
          <p:cNvPicPr>
            <a:picLocks noChangeAspect="1"/>
          </p:cNvPicPr>
          <p:nvPr>
            <a:audioFile r:link="rId2"/>
            <p:extLst>
              <p:ext uri="{DAA4B4D4-6D71-4841-9C94-3DE7FCFB9230}">
                <p14:media xmlns:p14="http://schemas.microsoft.com/office/powerpoint/2010/main" r:embed="rId1"/>
              </p:ext>
            </p:extLst>
          </p:nvPr>
        </p:nvPicPr>
        <p:blipFill>
          <a:blip r:embed="rId9"/>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738560621"/>
      </p:ext>
    </p:extLst>
  </p:cSld>
  <p:clrMapOvr>
    <a:masterClrMapping/>
  </p:clrMapOvr>
  <mc:AlternateContent xmlns:mc="http://schemas.openxmlformats.org/markup-compatibility/2006" xmlns:p14="http://schemas.microsoft.com/office/powerpoint/2010/main">
    <mc:Choice Requires="p14">
      <p:transition spd="slow" p14:dur="2000" advTm="30867"/>
    </mc:Choice>
    <mc:Fallback xmlns="">
      <p:transition spd="slow" advTm="3086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6"/>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pic>
        <p:nvPicPr>
          <p:cNvPr id="8194" name="Picture 2" descr="AI Artificial Intelligence chipset on circuit board in futuristic concept suitable for future technology artwork, Web Banner Abstract background, Vector illustration AI Artificial Intelligence chipset on circuit board in futuristic concept suitable for future technology artwork, Web Banner Abstract background, Vector illustration coding background stock illustrations">
            <a:extLst>
              <a:ext uri="{FF2B5EF4-FFF2-40B4-BE49-F238E27FC236}">
                <a16:creationId xmlns:a16="http://schemas.microsoft.com/office/drawing/2014/main" id="{65E32877-42B5-6DB1-3E7F-849360B6B36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2490"/>
            <a:ext cx="12196430" cy="6855510"/>
          </a:xfrm>
          <a:prstGeom prst="rect">
            <a:avLst/>
          </a:prstGeom>
          <a:noFill/>
          <a:extLst>
            <a:ext uri="{909E8E84-426E-40DD-AFC4-6F175D3DCCD1}">
              <a14:hiddenFill xmlns:a14="http://schemas.microsoft.com/office/drawing/2010/main">
                <a:solidFill>
                  <a:srgbClr val="FFFFFF"/>
                </a:solidFill>
              </a14:hiddenFill>
            </a:ext>
          </a:extLst>
        </p:spPr>
      </p:pic>
      <p:sp>
        <p:nvSpPr>
          <p:cNvPr id="202" name="Google Shape;202;p9"/>
          <p:cNvSpPr txBox="1">
            <a:spLocks noGrp="1"/>
          </p:cNvSpPr>
          <p:nvPr>
            <p:ph type="title"/>
          </p:nvPr>
        </p:nvSpPr>
        <p:spPr>
          <a:xfrm>
            <a:off x="5778499" y="268249"/>
            <a:ext cx="5524500" cy="1293028"/>
          </a:xfrm>
          <a:prstGeom prst="rect">
            <a:avLst/>
          </a:prstGeom>
          <a:noFill/>
          <a:ln>
            <a:noFill/>
          </a:ln>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000"/>
              <a:buFont typeface="Century Gothic"/>
              <a:buNone/>
            </a:pPr>
            <a:r>
              <a:rPr lang="en-US" dirty="0">
                <a:effectLst>
                  <a:glow rad="381000">
                    <a:schemeClr val="accent1">
                      <a:alpha val="40000"/>
                    </a:schemeClr>
                  </a:glow>
                </a:effectLst>
                <a:latin typeface="Consolas" panose="020B0609020204030204" pitchFamily="49" charset="0"/>
              </a:rPr>
              <a:t>AUTOMATION SUMMARY</a:t>
            </a:r>
            <a:endParaRPr dirty="0">
              <a:effectLst>
                <a:glow rad="381000">
                  <a:schemeClr val="accent1">
                    <a:alpha val="40000"/>
                  </a:schemeClr>
                </a:glow>
              </a:effectLst>
              <a:latin typeface="Consolas" panose="020B0609020204030204" pitchFamily="49" charset="0"/>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7">
            <a:alphaModFix/>
          </a:blip>
          <a:stretch/>
        </p:blipFill>
        <p:spPr>
          <a:xfrm>
            <a:off x="6003187" y="1167236"/>
            <a:ext cx="5075123" cy="2809875"/>
          </a:xfrm>
          <a:prstGeom prst="rect">
            <a:avLst/>
          </a:prstGeom>
          <a:noFill/>
          <a:ln>
            <a:noFill/>
          </a:ln>
        </p:spPr>
      </p:pic>
      <p:pic>
        <p:nvPicPr>
          <p:cNvPr id="204" name="Google Shape;204;p9" descr="Green Pace logo"/>
          <p:cNvPicPr preferRelativeResize="0"/>
          <p:nvPr/>
        </p:nvPicPr>
        <p:blipFill>
          <a:blip r:embed="rId8">
            <a:alphaModFix/>
          </a:blip>
          <a:stretch>
            <a:fillRect/>
          </a:stretch>
        </p:blipFill>
        <p:spPr>
          <a:xfrm>
            <a:off x="11084074" y="5440526"/>
            <a:ext cx="886601" cy="1149225"/>
          </a:xfrm>
          <a:prstGeom prst="rect">
            <a:avLst/>
          </a:prstGeom>
          <a:noFill/>
          <a:ln>
            <a:noFill/>
          </a:ln>
        </p:spPr>
      </p:pic>
      <p:sp>
        <p:nvSpPr>
          <p:cNvPr id="2" name="TextBox 1">
            <a:extLst>
              <a:ext uri="{FF2B5EF4-FFF2-40B4-BE49-F238E27FC236}">
                <a16:creationId xmlns:a16="http://schemas.microsoft.com/office/drawing/2014/main" id="{C4B2D582-687A-5D61-4F95-12D5EC4C050C}"/>
              </a:ext>
            </a:extLst>
          </p:cNvPr>
          <p:cNvSpPr txBox="1"/>
          <p:nvPr/>
        </p:nvSpPr>
        <p:spPr>
          <a:xfrm>
            <a:off x="713897" y="505863"/>
            <a:ext cx="4828140" cy="5232202"/>
          </a:xfrm>
          <a:prstGeom prst="rect">
            <a:avLst/>
          </a:prstGeom>
          <a:noFill/>
          <a:effectLst>
            <a:glow rad="1270000">
              <a:srgbClr val="FFFF00"/>
            </a:glow>
          </a:effectLst>
        </p:spPr>
        <p:txBody>
          <a:bodyPr wrap="square" rtlCol="0">
            <a:spAutoFit/>
          </a:bodyPr>
          <a:lstStyle/>
          <a:p>
            <a:pPr>
              <a:buNone/>
            </a:pPr>
            <a:endParaRPr lang="en-US" b="1" dirty="0">
              <a:solidFill>
                <a:schemeClr val="bg1"/>
              </a:solidFill>
              <a:effectLst>
                <a:glow rad="381000">
                  <a:schemeClr val="accent6">
                    <a:lumMod val="50000"/>
                    <a:alpha val="45000"/>
                  </a:schemeClr>
                </a:glow>
                <a:outerShdw blurRad="50800" dist="50800" algn="ctr" rotWithShape="0">
                  <a:srgbClr val="14A667"/>
                </a:outerShdw>
              </a:effectLst>
              <a:latin typeface="Consolas" panose="020B0609020204030204" pitchFamily="49" charset="0"/>
            </a:endParaRPr>
          </a:p>
          <a:p>
            <a:pPr>
              <a:buNone/>
            </a:pPr>
            <a:r>
              <a:rPr lang="en-US" sz="1600" b="1" dirty="0">
                <a:solidFill>
                  <a:schemeClr val="bg1"/>
                </a:solidFill>
                <a:effectLst>
                  <a:glow rad="635000">
                    <a:schemeClr val="accent6">
                      <a:lumMod val="50000"/>
                      <a:alpha val="40000"/>
                    </a:schemeClr>
                  </a:glow>
                  <a:outerShdw blurRad="50800" dist="50800" algn="ctr" rotWithShape="0">
                    <a:srgbClr val="14A667"/>
                  </a:outerShdw>
                </a:effectLst>
                <a:latin typeface="Consolas" panose="020B0609020204030204" pitchFamily="49" charset="0"/>
              </a:rPr>
              <a:t>During the Design stage, security tools like Cppcheck and Clang Tidy are planned.</a:t>
            </a:r>
          </a:p>
          <a:p>
            <a:br>
              <a:rPr lang="en-US" sz="1600" b="1" dirty="0">
                <a:solidFill>
                  <a:schemeClr val="bg1"/>
                </a:solidFill>
                <a:effectLst>
                  <a:glow rad="635000">
                    <a:schemeClr val="accent6">
                      <a:lumMod val="50000"/>
                      <a:alpha val="40000"/>
                    </a:schemeClr>
                  </a:glow>
                  <a:outerShdw blurRad="50800" dist="50800" algn="ctr" rotWithShape="0">
                    <a:srgbClr val="14A667"/>
                  </a:outerShdw>
                </a:effectLst>
                <a:latin typeface="Consolas" panose="020B0609020204030204" pitchFamily="49" charset="0"/>
              </a:rPr>
            </a:br>
            <a:r>
              <a:rPr lang="en-US" sz="1600" b="1" dirty="0">
                <a:solidFill>
                  <a:schemeClr val="bg1"/>
                </a:solidFill>
                <a:effectLst>
                  <a:glow rad="635000">
                    <a:schemeClr val="accent6">
                      <a:lumMod val="50000"/>
                      <a:alpha val="40000"/>
                    </a:schemeClr>
                  </a:glow>
                  <a:outerShdw blurRad="50800" dist="50800" algn="ctr" rotWithShape="0">
                    <a:srgbClr val="14A667"/>
                  </a:outerShdw>
                </a:effectLst>
                <a:latin typeface="Consolas" panose="020B0609020204030204" pitchFamily="49" charset="0"/>
              </a:rPr>
              <a:t>The compiler is first used in the Build stage with security flags enabled. During the Build stage, the compiler uses stack protection and runs static analysis automatically.</a:t>
            </a:r>
          </a:p>
          <a:p>
            <a:pPr>
              <a:buNone/>
            </a:pPr>
            <a:br>
              <a:rPr lang="en-US" sz="1600" b="1" dirty="0">
                <a:solidFill>
                  <a:schemeClr val="bg1"/>
                </a:solidFill>
                <a:effectLst>
                  <a:glow rad="635000">
                    <a:schemeClr val="accent6">
                      <a:lumMod val="50000"/>
                      <a:alpha val="40000"/>
                    </a:schemeClr>
                  </a:glow>
                  <a:outerShdw blurRad="50800" dist="50800" algn="ctr" rotWithShape="0">
                    <a:srgbClr val="14A667"/>
                  </a:outerShdw>
                </a:effectLst>
                <a:latin typeface="Consolas" panose="020B0609020204030204" pitchFamily="49" charset="0"/>
              </a:rPr>
            </a:br>
            <a:r>
              <a:rPr lang="en-US" sz="1600" b="1" dirty="0">
                <a:solidFill>
                  <a:schemeClr val="bg1"/>
                </a:solidFill>
                <a:effectLst>
                  <a:glow rad="635000">
                    <a:schemeClr val="accent6">
                      <a:lumMod val="50000"/>
                      <a:alpha val="40000"/>
                    </a:schemeClr>
                  </a:glow>
                  <a:outerShdw blurRad="50800" dist="50800" algn="ctr" rotWithShape="0">
                    <a:srgbClr val="14A667"/>
                  </a:outerShdw>
                </a:effectLst>
                <a:latin typeface="Consolas" panose="020B0609020204030204" pitchFamily="49" charset="0"/>
              </a:rPr>
              <a:t>During Verify and Test, GoogleTest unit tests check for memory, input, and pointer safety.</a:t>
            </a:r>
          </a:p>
          <a:p>
            <a:pPr>
              <a:buNone/>
            </a:pPr>
            <a:br>
              <a:rPr lang="en-US" sz="1600" b="1" dirty="0">
                <a:solidFill>
                  <a:schemeClr val="bg1"/>
                </a:solidFill>
                <a:effectLst>
                  <a:glow rad="635000">
                    <a:schemeClr val="accent6">
                      <a:lumMod val="50000"/>
                      <a:alpha val="40000"/>
                    </a:schemeClr>
                  </a:glow>
                  <a:outerShdw blurRad="50800" dist="50800" algn="ctr" rotWithShape="0">
                    <a:srgbClr val="14A667"/>
                  </a:outerShdw>
                </a:effectLst>
                <a:latin typeface="Consolas" panose="020B0609020204030204" pitchFamily="49" charset="0"/>
              </a:rPr>
            </a:br>
            <a:r>
              <a:rPr lang="en-US" sz="1600" b="1" dirty="0">
                <a:solidFill>
                  <a:schemeClr val="bg1"/>
                </a:solidFill>
                <a:effectLst>
                  <a:glow rad="635000">
                    <a:schemeClr val="accent6">
                      <a:lumMod val="50000"/>
                      <a:alpha val="40000"/>
                    </a:schemeClr>
                  </a:glow>
                  <a:outerShdw blurRad="50800" dist="50800" algn="ctr" rotWithShape="0">
                    <a:srgbClr val="14A667"/>
                  </a:outerShdw>
                </a:effectLst>
                <a:latin typeface="Consolas" panose="020B0609020204030204" pitchFamily="49" charset="0"/>
              </a:rPr>
              <a:t>In the Transition stage, penetration tests and configuration reviews are automated.</a:t>
            </a:r>
          </a:p>
          <a:p>
            <a:pPr>
              <a:buNone/>
            </a:pPr>
            <a:br>
              <a:rPr lang="en-US" sz="1600" b="1" dirty="0">
                <a:solidFill>
                  <a:schemeClr val="bg1"/>
                </a:solidFill>
                <a:effectLst>
                  <a:glow rad="635000">
                    <a:schemeClr val="accent6">
                      <a:lumMod val="50000"/>
                      <a:alpha val="40000"/>
                    </a:schemeClr>
                  </a:glow>
                  <a:outerShdw blurRad="50800" dist="50800" algn="ctr" rotWithShape="0">
                    <a:srgbClr val="14A667"/>
                  </a:outerShdw>
                </a:effectLst>
                <a:latin typeface="Consolas" panose="020B0609020204030204" pitchFamily="49" charset="0"/>
              </a:rPr>
            </a:br>
            <a:r>
              <a:rPr lang="en-US" sz="1600" b="1" dirty="0">
                <a:solidFill>
                  <a:schemeClr val="bg1"/>
                </a:solidFill>
                <a:effectLst>
                  <a:glow rad="635000">
                    <a:schemeClr val="accent6">
                      <a:lumMod val="50000"/>
                      <a:alpha val="40000"/>
                    </a:schemeClr>
                  </a:glow>
                  <a:outerShdw blurRad="50800" dist="50800" algn="ctr" rotWithShape="0">
                    <a:srgbClr val="14A667"/>
                  </a:outerShdw>
                </a:effectLst>
                <a:latin typeface="Consolas" panose="020B0609020204030204" pitchFamily="49" charset="0"/>
              </a:rPr>
              <a:t>Finally, in Monitor, logs and alerts are automatically collected and analyzed.</a:t>
            </a:r>
          </a:p>
          <a:p>
            <a:pPr>
              <a:buNone/>
            </a:pPr>
            <a:endParaRPr lang="en-US" sz="1600" b="1" dirty="0">
              <a:solidFill>
                <a:schemeClr val="bg1"/>
              </a:solidFill>
              <a:effectLst>
                <a:glow rad="635000">
                  <a:schemeClr val="accent6">
                    <a:lumMod val="50000"/>
                    <a:alpha val="40000"/>
                  </a:schemeClr>
                </a:glow>
                <a:outerShdw blurRad="50800" dist="50800" algn="ctr" rotWithShape="0">
                  <a:srgbClr val="14A667"/>
                </a:outerShdw>
              </a:effectLst>
              <a:latin typeface="Consolas" panose="020B0609020204030204" pitchFamily="49" charset="0"/>
            </a:endParaRPr>
          </a:p>
        </p:txBody>
      </p:sp>
      <p:sp>
        <p:nvSpPr>
          <p:cNvPr id="6" name="TextBox 5">
            <a:extLst>
              <a:ext uri="{FF2B5EF4-FFF2-40B4-BE49-F238E27FC236}">
                <a16:creationId xmlns:a16="http://schemas.microsoft.com/office/drawing/2014/main" id="{CC7EADB0-2664-E347-1CA3-9FE06EB06B3B}"/>
              </a:ext>
            </a:extLst>
          </p:cNvPr>
          <p:cNvSpPr txBox="1"/>
          <p:nvPr/>
        </p:nvSpPr>
        <p:spPr>
          <a:xfrm>
            <a:off x="6649965" y="4127538"/>
            <a:ext cx="3998563" cy="2462213"/>
          </a:xfrm>
          <a:prstGeom prst="rect">
            <a:avLst/>
          </a:prstGeom>
          <a:noFill/>
        </p:spPr>
        <p:txBody>
          <a:bodyPr wrap="square">
            <a:spAutoFit/>
          </a:bodyPr>
          <a:lstStyle/>
          <a:p>
            <a:pPr>
              <a:buNone/>
            </a:pPr>
            <a:r>
              <a:rPr lang="en-US" b="1" dirty="0" err="1">
                <a:solidFill>
                  <a:schemeClr val="bg1"/>
                </a:solidFill>
                <a:effectLst>
                  <a:glow rad="762000">
                    <a:srgbClr val="62FFFF">
                      <a:alpha val="40000"/>
                    </a:srgbClr>
                  </a:glow>
                </a:effectLst>
                <a:latin typeface="Consolas" panose="020B0609020204030204" pitchFamily="49" charset="0"/>
              </a:rPr>
              <a:t>DevSecOps</a:t>
            </a:r>
            <a:r>
              <a:rPr lang="en-US" b="1" dirty="0">
                <a:solidFill>
                  <a:schemeClr val="bg1"/>
                </a:solidFill>
                <a:effectLst>
                  <a:glow rad="762000">
                    <a:srgbClr val="62FFFF">
                      <a:alpha val="40000"/>
                    </a:srgbClr>
                  </a:glow>
                </a:effectLst>
                <a:latin typeface="Consolas" panose="020B0609020204030204" pitchFamily="49" charset="0"/>
              </a:rPr>
              <a:t> Pipeline:</a:t>
            </a:r>
          </a:p>
          <a:p>
            <a:pPr>
              <a:buNone/>
            </a:pPr>
            <a:endParaRPr lang="en-US" b="1" dirty="0">
              <a:solidFill>
                <a:schemeClr val="bg1"/>
              </a:solidFill>
              <a:effectLst>
                <a:glow rad="762000">
                  <a:srgbClr val="62FFFF">
                    <a:alpha val="40000"/>
                  </a:srgbClr>
                </a:glow>
              </a:effectLst>
              <a:latin typeface="Consolas" panose="020B0609020204030204" pitchFamily="49" charset="0"/>
            </a:endParaRPr>
          </a:p>
          <a:p>
            <a:pPr marL="114300" indent="0">
              <a:buNone/>
            </a:pPr>
            <a:r>
              <a:rPr lang="en-US" sz="1400" dirty="0">
                <a:solidFill>
                  <a:schemeClr val="bg1"/>
                </a:solidFill>
                <a:effectLst>
                  <a:glow rad="190500">
                    <a:srgbClr val="62FFFF">
                      <a:alpha val="40000"/>
                    </a:srgbClr>
                  </a:glow>
                </a:effectLst>
                <a:latin typeface="Consolas" panose="020B0609020204030204" pitchFamily="49" charset="0"/>
              </a:rPr>
              <a:t>Security is built into every phase of development, testing, and deployment.</a:t>
            </a:r>
          </a:p>
          <a:p>
            <a:pPr marL="114300" indent="0">
              <a:buNone/>
            </a:pPr>
            <a:endParaRPr lang="en-US" sz="1400" dirty="0">
              <a:solidFill>
                <a:schemeClr val="bg1"/>
              </a:solidFill>
              <a:effectLst>
                <a:glow rad="190500">
                  <a:srgbClr val="62FFFF">
                    <a:alpha val="40000"/>
                  </a:srgbClr>
                </a:glow>
              </a:effectLst>
              <a:latin typeface="Consolas" panose="020B0609020204030204" pitchFamily="49" charset="0"/>
            </a:endParaRPr>
          </a:p>
          <a:p>
            <a:pPr marL="114300" indent="0">
              <a:buNone/>
            </a:pPr>
            <a:r>
              <a:rPr lang="en-US" sz="1400" dirty="0">
                <a:solidFill>
                  <a:schemeClr val="bg1"/>
                </a:solidFill>
                <a:effectLst>
                  <a:glow rad="190500">
                    <a:srgbClr val="62FFFF">
                      <a:alpha val="40000"/>
                    </a:srgbClr>
                  </a:glow>
                </a:effectLst>
                <a:latin typeface="Consolas" panose="020B0609020204030204" pitchFamily="49" charset="0"/>
              </a:rPr>
              <a:t>Problems are caught early instead of after coding is finished.</a:t>
            </a:r>
          </a:p>
          <a:p>
            <a:pPr marL="114300" indent="0">
              <a:buNone/>
            </a:pPr>
            <a:endParaRPr lang="en-US" sz="1400" dirty="0">
              <a:solidFill>
                <a:schemeClr val="bg1"/>
              </a:solidFill>
              <a:effectLst>
                <a:glow rad="190500">
                  <a:srgbClr val="62FFFF">
                    <a:alpha val="40000"/>
                  </a:srgbClr>
                </a:glow>
              </a:effectLst>
              <a:latin typeface="Consolas" panose="020B0609020204030204" pitchFamily="49" charset="0"/>
            </a:endParaRPr>
          </a:p>
          <a:p>
            <a:pPr marL="114300" indent="0">
              <a:buNone/>
            </a:pPr>
            <a:r>
              <a:rPr lang="en-US" sz="1400" dirty="0">
                <a:solidFill>
                  <a:schemeClr val="bg1"/>
                </a:solidFill>
                <a:effectLst>
                  <a:glow rad="190500">
                    <a:srgbClr val="62FFFF">
                      <a:alpha val="40000"/>
                    </a:srgbClr>
                  </a:glow>
                </a:effectLst>
                <a:latin typeface="Consolas" panose="020B0609020204030204" pitchFamily="49" charset="0"/>
              </a:rPr>
              <a:t>Automation helps lower risk and keeps systems secure throughout the project.</a:t>
            </a:r>
          </a:p>
        </p:txBody>
      </p:sp>
      <p:pic>
        <p:nvPicPr>
          <p:cNvPr id="7" name="Audio 6">
            <a:hlinkClick r:id="" action="ppaction://media"/>
            <a:extLst>
              <a:ext uri="{FF2B5EF4-FFF2-40B4-BE49-F238E27FC236}">
                <a16:creationId xmlns:a16="http://schemas.microsoft.com/office/drawing/2014/main" id="{148C37BD-7B35-F862-32AF-1F3F8D34A13C}"/>
              </a:ext>
            </a:extLst>
          </p:cNvPr>
          <p:cNvPicPr>
            <a:picLocks noChangeAspect="1"/>
          </p:cNvPicPr>
          <p:nvPr>
            <a:audioFile r:link="rId3"/>
            <p:extLst>
              <p:ext uri="{DAA4B4D4-6D71-4841-9C94-3DE7FCFB9230}">
                <p14:media xmlns:p14="http://schemas.microsoft.com/office/powerpoint/2010/main" r:embed="rId2"/>
              </p:ext>
            </p:extLst>
          </p:nvPr>
        </p:nvPicPr>
        <p:blipFill>
          <a:blip r:embed="rId9"/>
          <a:srcRect l="-118750" t="-118750" r="-118750" b="-118750"/>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47844"/>
    </mc:Choice>
    <mc:Fallback>
      <p:transition spd="slow" advTm="4784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pic>
        <p:nvPicPr>
          <p:cNvPr id="9224" name="Picture 8" descr="Blue cyber background of binary code digits. Blue cyber background of binary code digits coding background stock illustrations">
            <a:extLst>
              <a:ext uri="{FF2B5EF4-FFF2-40B4-BE49-F238E27FC236}">
                <a16:creationId xmlns:a16="http://schemas.microsoft.com/office/drawing/2014/main" id="{D6A7B8D8-389F-69DB-41AD-6F499085853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16" name="Google Shape;216;p11"/>
          <p:cNvSpPr txBox="1">
            <a:spLocks noGrp="1"/>
          </p:cNvSpPr>
          <p:nvPr>
            <p:ph type="title"/>
          </p:nvPr>
        </p:nvSpPr>
        <p:spPr>
          <a:xfrm>
            <a:off x="-1348729" y="-110322"/>
            <a:ext cx="11178529" cy="2308324"/>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sz="5400" dirty="0">
                <a:effectLst>
                  <a:glow rad="381000">
                    <a:srgbClr val="0D8E52">
                      <a:alpha val="70000"/>
                    </a:srgbClr>
                  </a:glow>
                </a:effectLst>
                <a:latin typeface="Consolas" panose="020B0609020204030204" pitchFamily="49" charset="0"/>
              </a:rPr>
              <a:t>RISKS AND BENEFITS</a:t>
            </a:r>
            <a:endParaRPr sz="5400" dirty="0">
              <a:effectLst>
                <a:glow rad="381000">
                  <a:srgbClr val="0D8E52">
                    <a:alpha val="70000"/>
                  </a:srgbClr>
                </a:glow>
              </a:effectLst>
              <a:latin typeface="Consolas" panose="020B0609020204030204" pitchFamily="49" charset="0"/>
            </a:endParaRPr>
          </a:p>
        </p:txBody>
      </p:sp>
      <p:pic>
        <p:nvPicPr>
          <p:cNvPr id="218" name="Google Shape;218;p11" descr="Green Pace logo"/>
          <p:cNvPicPr preferRelativeResize="0"/>
          <p:nvPr/>
        </p:nvPicPr>
        <p:blipFill>
          <a:blip r:embed="rId7">
            <a:alphaModFix/>
          </a:blip>
          <a:stretch>
            <a:fillRect/>
          </a:stretch>
        </p:blipFill>
        <p:spPr>
          <a:xfrm>
            <a:off x="11084074" y="5440526"/>
            <a:ext cx="886601" cy="1149225"/>
          </a:xfrm>
          <a:prstGeom prst="rect">
            <a:avLst/>
          </a:prstGeom>
          <a:noFill/>
          <a:ln>
            <a:noFill/>
          </a:ln>
        </p:spPr>
      </p:pic>
      <p:sp>
        <p:nvSpPr>
          <p:cNvPr id="9" name="Rectangle 6">
            <a:extLst>
              <a:ext uri="{FF2B5EF4-FFF2-40B4-BE49-F238E27FC236}">
                <a16:creationId xmlns:a16="http://schemas.microsoft.com/office/drawing/2014/main" id="{A89AEDC1-6F8B-A225-5A83-59E55E84300D}"/>
              </a:ext>
            </a:extLst>
          </p:cNvPr>
          <p:cNvSpPr>
            <a:spLocks noGrp="1" noChangeArrowheads="1"/>
          </p:cNvSpPr>
          <p:nvPr>
            <p:ph type="body" idx="1"/>
          </p:nvPr>
        </p:nvSpPr>
        <p:spPr bwMode="auto">
          <a:xfrm>
            <a:off x="697832" y="2762870"/>
            <a:ext cx="1012649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bg1"/>
                </a:solidFill>
                <a:effectLst>
                  <a:glow rad="381000">
                    <a:srgbClr val="0D8E52">
                      <a:alpha val="75000"/>
                    </a:srgbClr>
                  </a:glow>
                </a:effectLst>
                <a:latin typeface="Consolas" panose="020B0609020204030204" pitchFamily="49" charset="0"/>
              </a:rPr>
              <a:t>Problems</a:t>
            </a:r>
            <a:r>
              <a:rPr kumimoji="0" lang="en-US" altLang="en-US" sz="1800" b="0" i="0" u="none" strike="noStrike" cap="none" normalizeH="0" baseline="0" dirty="0">
                <a:ln>
                  <a:noFill/>
                </a:ln>
                <a:solidFill>
                  <a:schemeClr val="bg1"/>
                </a:solidFill>
                <a:effectLst>
                  <a:glow rad="381000">
                    <a:srgbClr val="0D8E52">
                      <a:alpha val="75000"/>
                    </a:srgbClr>
                  </a:glow>
                </a:effectLst>
                <a:latin typeface="Consolas" panose="020B0609020204030204" pitchFamily="49" charset="0"/>
              </a:rPr>
              <a:t>: </a:t>
            </a:r>
            <a:r>
              <a:rPr kumimoji="0" lang="en-US" altLang="en-US" sz="1800" b="0" i="0" u="none" strike="noStrike" cap="none" normalizeH="0" baseline="0" dirty="0">
                <a:ln>
                  <a:noFill/>
                </a:ln>
                <a:solidFill>
                  <a:schemeClr val="bg1"/>
                </a:solidFill>
                <a:effectLst/>
                <a:latin typeface="Consolas" panose="020B0609020204030204" pitchFamily="49" charset="0"/>
              </a:rPr>
              <a:t>Vulnerabilities found too late cause expensive damage.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bg1"/>
                </a:solidFill>
                <a:effectLst>
                  <a:glow rad="381000">
                    <a:srgbClr val="0D8E52">
                      <a:alpha val="75000"/>
                    </a:srgbClr>
                  </a:glow>
                </a:effectLst>
                <a:latin typeface="Consolas" panose="020B0609020204030204" pitchFamily="49" charset="0"/>
              </a:rPr>
              <a:t>Solutions</a:t>
            </a:r>
            <a:r>
              <a:rPr kumimoji="0" lang="en-US" altLang="en-US" sz="1800" b="0" i="0" u="none" strike="noStrike" cap="none" normalizeH="0" baseline="0" dirty="0">
                <a:ln>
                  <a:noFill/>
                </a:ln>
                <a:solidFill>
                  <a:schemeClr val="bg1"/>
                </a:solidFill>
                <a:effectLst>
                  <a:glow rad="381000">
                    <a:srgbClr val="0D8E52">
                      <a:alpha val="75000"/>
                    </a:srgbClr>
                  </a:glow>
                </a:effectLst>
                <a:latin typeface="Consolas" panose="020B0609020204030204" pitchFamily="49" charset="0"/>
              </a:rPr>
              <a:t>: </a:t>
            </a:r>
            <a:r>
              <a:rPr kumimoji="0" lang="en-US" altLang="en-US" sz="1800" b="0" i="0" u="none" strike="noStrike" cap="none" normalizeH="0" baseline="0" dirty="0">
                <a:ln>
                  <a:noFill/>
                </a:ln>
                <a:solidFill>
                  <a:schemeClr val="bg1"/>
                </a:solidFill>
                <a:effectLst/>
                <a:latin typeface="Consolas" panose="020B0609020204030204" pitchFamily="49" charset="0"/>
              </a:rPr>
              <a:t>Use static analysis, automated unit tests, and quick patches.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bg1"/>
                </a:solidFill>
                <a:effectLst>
                  <a:glow rad="381000">
                    <a:srgbClr val="0D8E52">
                      <a:alpha val="75000"/>
                    </a:srgbClr>
                  </a:glow>
                </a:effectLst>
                <a:latin typeface="Consolas" panose="020B0609020204030204" pitchFamily="49" charset="0"/>
              </a:rPr>
              <a:t>Risks if you wait</a:t>
            </a:r>
            <a:r>
              <a:rPr kumimoji="0" lang="en-US" altLang="en-US" sz="1800" b="0" i="0" u="none" strike="noStrike" cap="none" normalizeH="0" baseline="0" dirty="0">
                <a:ln>
                  <a:noFill/>
                </a:ln>
                <a:solidFill>
                  <a:schemeClr val="bg1"/>
                </a:solidFill>
                <a:effectLst>
                  <a:glow rad="381000">
                    <a:srgbClr val="0D8E52">
                      <a:alpha val="75000"/>
                    </a:srgbClr>
                  </a:glow>
                </a:effectLst>
                <a:latin typeface="Consolas" panose="020B0609020204030204" pitchFamily="49" charset="0"/>
              </a:rPr>
              <a:t>: </a:t>
            </a:r>
            <a:r>
              <a:rPr kumimoji="0" lang="en-US" altLang="en-US" sz="1800" b="0" i="0" u="none" strike="noStrike" cap="none" normalizeH="0" baseline="0" dirty="0">
                <a:ln>
                  <a:noFill/>
                </a:ln>
                <a:solidFill>
                  <a:schemeClr val="bg1"/>
                </a:solidFill>
                <a:effectLst/>
                <a:latin typeface="Consolas" panose="020B0609020204030204" pitchFamily="49" charset="0"/>
              </a:rPr>
              <a:t>Higher attack risk, higher costs, system instability.</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bg1"/>
                </a:solidFill>
                <a:effectLst>
                  <a:glow rad="381000">
                    <a:srgbClr val="0D8E52">
                      <a:alpha val="75000"/>
                    </a:srgbClr>
                  </a:glow>
                </a:effectLst>
                <a:latin typeface="Consolas" panose="020B0609020204030204" pitchFamily="49" charset="0"/>
              </a:rPr>
              <a:t>Benefits if you act now</a:t>
            </a:r>
            <a:r>
              <a:rPr kumimoji="0" lang="en-US" altLang="en-US" sz="1800" b="0" i="0" u="none" strike="noStrike" cap="none" normalizeH="0" baseline="0" dirty="0">
                <a:ln>
                  <a:noFill/>
                </a:ln>
                <a:solidFill>
                  <a:schemeClr val="bg1"/>
                </a:solidFill>
                <a:effectLst>
                  <a:glow rad="381000">
                    <a:srgbClr val="0D8E52">
                      <a:alpha val="75000"/>
                    </a:srgbClr>
                  </a:glow>
                </a:effectLst>
                <a:latin typeface="Consolas" panose="020B0609020204030204" pitchFamily="49" charset="0"/>
              </a:rPr>
              <a:t>: </a:t>
            </a:r>
            <a:r>
              <a:rPr kumimoji="0" lang="en-US" altLang="en-US" sz="1800" b="0" i="0" u="none" strike="noStrike" cap="none" normalizeH="0" baseline="0" dirty="0">
                <a:ln>
                  <a:noFill/>
                </a:ln>
                <a:solidFill>
                  <a:schemeClr val="bg1"/>
                </a:solidFill>
                <a:effectLst/>
                <a:latin typeface="Consolas" panose="020B0609020204030204" pitchFamily="49" charset="0"/>
              </a:rPr>
              <a:t>Early fixes save time, money, and protect reputation</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pic>
        <p:nvPicPr>
          <p:cNvPr id="29" name="Audio 28">
            <a:hlinkClick r:id="" action="ppaction://media"/>
            <a:extLst>
              <a:ext uri="{FF2B5EF4-FFF2-40B4-BE49-F238E27FC236}">
                <a16:creationId xmlns:a16="http://schemas.microsoft.com/office/drawing/2014/main" id="{1BFF5B86-0B7D-B207-8646-3A4B6F766033}"/>
              </a:ext>
            </a:extLst>
          </p:cNvPr>
          <p:cNvPicPr>
            <a:picLocks noChangeAspect="1"/>
          </p:cNvPicPr>
          <p:nvPr>
            <a:audioFile r:link="rId3"/>
            <p:extLst>
              <p:ext uri="{DAA4B4D4-6D71-4841-9C94-3DE7FCFB9230}">
                <p14:media xmlns:p14="http://schemas.microsoft.com/office/powerpoint/2010/main" r:embed="rId2"/>
              </p:ext>
            </p:extLst>
          </p:nvPr>
        </p:nvPicPr>
        <p:blipFill>
          <a:blip r:embed="rId8"/>
          <a:srcRect l="-118750" t="-118750" r="-118750" b="-118750"/>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35403"/>
    </mc:Choice>
    <mc:Fallback>
      <p:transition spd="slow" advTm="3540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9"/>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pic>
        <p:nvPicPr>
          <p:cNvPr id="11" name="Picture 10">
            <a:extLst>
              <a:ext uri="{FF2B5EF4-FFF2-40B4-BE49-F238E27FC236}">
                <a16:creationId xmlns:a16="http://schemas.microsoft.com/office/drawing/2014/main" id="{30B607BF-46A7-649B-813B-72601FA70D32}"/>
              </a:ext>
            </a:extLst>
          </p:cNvPr>
          <p:cNvPicPr>
            <a:picLocks noChangeAspect="1"/>
          </p:cNvPicPr>
          <p:nvPr/>
        </p:nvPicPr>
        <p:blipFill>
          <a:blip r:embed="rId6"/>
          <a:stretch>
            <a:fillRect/>
          </a:stretch>
        </p:blipFill>
        <p:spPr>
          <a:xfrm>
            <a:off x="0" y="1"/>
            <a:ext cx="12192000" cy="6876216"/>
          </a:xfrm>
          <a:prstGeom prst="rect">
            <a:avLst/>
          </a:prstGeom>
        </p:spPr>
      </p:pic>
      <p:sp>
        <p:nvSpPr>
          <p:cNvPr id="223" name="Google Shape;223;p12"/>
          <p:cNvSpPr txBox="1">
            <a:spLocks noGrp="1"/>
          </p:cNvSpPr>
          <p:nvPr>
            <p:ph type="title"/>
          </p:nvPr>
        </p:nvSpPr>
        <p:spPr>
          <a:xfrm>
            <a:off x="1790700" y="206255"/>
            <a:ext cx="8610600" cy="129302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000"/>
              <a:buFont typeface="Century Gothic"/>
              <a:buNone/>
            </a:pPr>
            <a:r>
              <a:rPr lang="en-US" sz="6000" dirty="0">
                <a:effectLst>
                  <a:glow rad="635000">
                    <a:srgbClr val="004200">
                      <a:alpha val="70000"/>
                    </a:srgbClr>
                  </a:glow>
                </a:effectLst>
                <a:latin typeface="Consolas" panose="020B0609020204030204" pitchFamily="49" charset="0"/>
              </a:rPr>
              <a:t>RECOMMENDATIONS</a:t>
            </a:r>
            <a:endParaRPr sz="6000" dirty="0">
              <a:effectLst>
                <a:glow rad="635000">
                  <a:srgbClr val="004200">
                    <a:alpha val="70000"/>
                  </a:srgbClr>
                </a:glow>
              </a:effectLst>
              <a:latin typeface="Consolas" panose="020B0609020204030204" pitchFamily="49" charset="0"/>
            </a:endParaRPr>
          </a:p>
        </p:txBody>
      </p:sp>
      <p:pic>
        <p:nvPicPr>
          <p:cNvPr id="225" name="Google Shape;225;p12" descr="Green Pace logo"/>
          <p:cNvPicPr preferRelativeResize="0"/>
          <p:nvPr/>
        </p:nvPicPr>
        <p:blipFill>
          <a:blip r:embed="rId7">
            <a:alphaModFix/>
          </a:blip>
          <a:stretch>
            <a:fillRect/>
          </a:stretch>
        </p:blipFill>
        <p:spPr>
          <a:xfrm>
            <a:off x="11084074" y="5440526"/>
            <a:ext cx="886601" cy="1149225"/>
          </a:xfrm>
          <a:prstGeom prst="rect">
            <a:avLst/>
          </a:prstGeom>
          <a:noFill/>
          <a:ln>
            <a:noFill/>
          </a:ln>
        </p:spPr>
      </p:pic>
      <p:sp>
        <p:nvSpPr>
          <p:cNvPr id="10" name="Rectangle 7">
            <a:extLst>
              <a:ext uri="{FF2B5EF4-FFF2-40B4-BE49-F238E27FC236}">
                <a16:creationId xmlns:a16="http://schemas.microsoft.com/office/drawing/2014/main" id="{47F35A99-A484-F22F-1958-650E8D2862FB}"/>
              </a:ext>
            </a:extLst>
          </p:cNvPr>
          <p:cNvSpPr>
            <a:spLocks noGrp="1" noChangeArrowheads="1"/>
          </p:cNvSpPr>
          <p:nvPr>
            <p:ph type="body" idx="1"/>
          </p:nvPr>
        </p:nvSpPr>
        <p:spPr bwMode="auto">
          <a:xfrm>
            <a:off x="456111" y="2222451"/>
            <a:ext cx="10627963"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i="0" u="none" strike="noStrike" cap="none" normalizeH="0" baseline="0" dirty="0">
                <a:ln>
                  <a:noFill/>
                </a:ln>
                <a:solidFill>
                  <a:schemeClr val="bg1"/>
                </a:solidFill>
                <a:effectLst>
                  <a:glow rad="381000">
                    <a:srgbClr val="004200"/>
                  </a:glow>
                </a:effectLst>
                <a:latin typeface="Consolas" panose="020B0609020204030204" pitchFamily="49" charset="0"/>
              </a:rPr>
              <a:t>Continue using static analysis (Cppcheck, Clang Tidy) during all stages of development, not just at the start.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i="0" u="none" strike="noStrike" cap="none" normalizeH="0" baseline="0" dirty="0">
              <a:ln>
                <a:noFill/>
              </a:ln>
              <a:solidFill>
                <a:schemeClr val="bg1"/>
              </a:solidFill>
              <a:effectLst>
                <a:glow rad="381000">
                  <a:srgbClr val="004200"/>
                </a:glow>
              </a:effectLst>
              <a:latin typeface="Consolas" panose="020B0609020204030204" pitchFamily="49"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i="0" u="none" strike="noStrike" cap="none" normalizeH="0" baseline="0" dirty="0">
                <a:ln>
                  <a:noFill/>
                </a:ln>
                <a:solidFill>
                  <a:schemeClr val="bg1"/>
                </a:solidFill>
                <a:effectLst>
                  <a:glow rad="381000">
                    <a:srgbClr val="004200"/>
                  </a:glow>
                </a:effectLst>
                <a:latin typeface="Consolas" panose="020B0609020204030204" pitchFamily="49" charset="0"/>
              </a:rPr>
              <a:t>Expand unit testing with GoogleTest to cover more edge cases like empty inputs, maximum string lengths, and invalid pointers.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i="0" u="none" strike="noStrike" cap="none" normalizeH="0" baseline="0" dirty="0">
              <a:ln>
                <a:noFill/>
              </a:ln>
              <a:solidFill>
                <a:schemeClr val="bg1"/>
              </a:solidFill>
              <a:effectLst>
                <a:glow rad="381000">
                  <a:srgbClr val="004200"/>
                </a:glow>
              </a:effectLst>
              <a:latin typeface="Consolas" panose="020B0609020204030204" pitchFamily="49"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i="0" u="none" strike="noStrike" cap="none" normalizeH="0" baseline="0" dirty="0">
                <a:ln>
                  <a:noFill/>
                </a:ln>
                <a:solidFill>
                  <a:schemeClr val="bg1"/>
                </a:solidFill>
                <a:effectLst>
                  <a:glow rad="381000">
                    <a:srgbClr val="004200"/>
                  </a:glow>
                </a:effectLst>
                <a:latin typeface="Consolas" panose="020B0609020204030204" pitchFamily="49" charset="0"/>
              </a:rPr>
              <a:t>Add fuzz testing tools later to automatically throw random inputs at your code and find hidden bugs.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i="0" u="none" strike="noStrike" cap="none" normalizeH="0" baseline="0" dirty="0">
              <a:ln>
                <a:noFill/>
              </a:ln>
              <a:solidFill>
                <a:schemeClr val="bg1"/>
              </a:solidFill>
              <a:effectLst>
                <a:glow rad="381000">
                  <a:srgbClr val="004200"/>
                </a:glow>
              </a:effectLst>
              <a:latin typeface="Consolas" panose="020B0609020204030204" pitchFamily="49"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i="0" u="none" strike="noStrike" cap="none" normalizeH="0" baseline="0" dirty="0">
                <a:ln>
                  <a:noFill/>
                </a:ln>
                <a:solidFill>
                  <a:schemeClr val="bg1"/>
                </a:solidFill>
                <a:effectLst>
                  <a:glow rad="381000">
                    <a:srgbClr val="004200"/>
                  </a:glow>
                </a:effectLst>
                <a:latin typeface="Consolas" panose="020B0609020204030204" pitchFamily="49" charset="0"/>
              </a:rPr>
              <a:t>Apply security settings at the compiler level for every project (stack protection, bounds checking, warnings as errors).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i="0" u="none" strike="noStrike" cap="none" normalizeH="0" baseline="0" dirty="0">
              <a:ln>
                <a:noFill/>
              </a:ln>
              <a:solidFill>
                <a:schemeClr val="bg1"/>
              </a:solidFill>
              <a:effectLst>
                <a:glow rad="381000">
                  <a:srgbClr val="004200"/>
                </a:glow>
              </a:effectLst>
              <a:latin typeface="Consolas" panose="020B0609020204030204" pitchFamily="49"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i="0" u="none" strike="noStrike" cap="none" normalizeH="0" baseline="0" dirty="0">
                <a:ln>
                  <a:noFill/>
                </a:ln>
                <a:solidFill>
                  <a:schemeClr val="bg1"/>
                </a:solidFill>
                <a:effectLst>
                  <a:glow rad="381000">
                    <a:srgbClr val="004200"/>
                  </a:glow>
                </a:effectLst>
                <a:latin typeface="Consolas" panose="020B0609020204030204" pitchFamily="49" charset="0"/>
              </a:rPr>
              <a:t>Automate penetration testing before moving any system into production.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i="0" u="none" strike="noStrike" cap="none" normalizeH="0" baseline="0" dirty="0">
              <a:ln>
                <a:noFill/>
              </a:ln>
              <a:solidFill>
                <a:schemeClr val="bg1"/>
              </a:solidFill>
              <a:effectLst>
                <a:glow rad="381000">
                  <a:srgbClr val="004200"/>
                </a:glow>
              </a:effectLst>
              <a:latin typeface="Consolas" panose="020B0609020204030204" pitchFamily="49"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i="0" u="none" strike="noStrike" cap="none" normalizeH="0" baseline="0" dirty="0">
                <a:ln>
                  <a:noFill/>
                </a:ln>
                <a:solidFill>
                  <a:schemeClr val="bg1"/>
                </a:solidFill>
                <a:effectLst>
                  <a:glow rad="381000">
                    <a:srgbClr val="004200"/>
                  </a:glow>
                </a:effectLst>
                <a:latin typeface="Consolas" panose="020B0609020204030204" pitchFamily="49" charset="0"/>
              </a:rPr>
              <a:t>Review and update the security policy every 6 months to keep up with new threats.</a:t>
            </a:r>
          </a:p>
        </p:txBody>
      </p:sp>
      <p:pic>
        <p:nvPicPr>
          <p:cNvPr id="35" name="Audio 34">
            <a:hlinkClick r:id="" action="ppaction://media"/>
            <a:extLst>
              <a:ext uri="{FF2B5EF4-FFF2-40B4-BE49-F238E27FC236}">
                <a16:creationId xmlns:a16="http://schemas.microsoft.com/office/drawing/2014/main" id="{31FC58A7-FAD3-4418-6EBD-79E457BF5404}"/>
              </a:ext>
            </a:extLst>
          </p:cNvPr>
          <p:cNvPicPr>
            <a:picLocks noChangeAspect="1"/>
          </p:cNvPicPr>
          <p:nvPr>
            <a:audioFile r:link="rId3"/>
            <p:extLst>
              <p:ext uri="{DAA4B4D4-6D71-4841-9C94-3DE7FCFB9230}">
                <p14:media xmlns:p14="http://schemas.microsoft.com/office/powerpoint/2010/main" r:embed="rId2"/>
              </p:ext>
            </p:extLst>
          </p:nvPr>
        </p:nvPicPr>
        <p:blipFill>
          <a:blip r:embed="rId8"/>
          <a:srcRect l="-118750" t="-118750" r="-118750" b="-118750"/>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45105"/>
    </mc:Choice>
    <mc:Fallback>
      <p:transition spd="slow" advTm="4510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5"/>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pic>
        <p:nvPicPr>
          <p:cNvPr id="3" name="Picture 2">
            <a:extLst>
              <a:ext uri="{FF2B5EF4-FFF2-40B4-BE49-F238E27FC236}">
                <a16:creationId xmlns:a16="http://schemas.microsoft.com/office/drawing/2014/main" id="{FBCA12AE-02D2-26AF-2A6B-89E2AB2DB9C7}"/>
              </a:ext>
            </a:extLst>
          </p:cNvPr>
          <p:cNvPicPr>
            <a:picLocks noChangeAspect="1"/>
          </p:cNvPicPr>
          <p:nvPr/>
        </p:nvPicPr>
        <p:blipFill>
          <a:blip r:embed="rId6"/>
          <a:stretch>
            <a:fillRect/>
          </a:stretch>
        </p:blipFill>
        <p:spPr>
          <a:xfrm>
            <a:off x="0" y="-1"/>
            <a:ext cx="12192000" cy="6858001"/>
          </a:xfrm>
          <a:prstGeom prst="rect">
            <a:avLst/>
          </a:prstGeom>
        </p:spPr>
      </p:pic>
      <p:sp>
        <p:nvSpPr>
          <p:cNvPr id="230" name="Google Shape;230;p13"/>
          <p:cNvSpPr txBox="1">
            <a:spLocks noGrp="1"/>
          </p:cNvSpPr>
          <p:nvPr>
            <p:ph type="title"/>
          </p:nvPr>
        </p:nvSpPr>
        <p:spPr>
          <a:xfrm>
            <a:off x="2538323" y="206868"/>
            <a:ext cx="6558366" cy="129302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000"/>
              <a:buFont typeface="Century Gothic"/>
              <a:buNone/>
            </a:pPr>
            <a:r>
              <a:rPr lang="en-US" sz="6000" dirty="0">
                <a:effectLst>
                  <a:glow rad="571500">
                    <a:srgbClr val="689550">
                      <a:alpha val="50000"/>
                    </a:srgbClr>
                  </a:glow>
                </a:effectLst>
                <a:latin typeface="Consolas" panose="020B0609020204030204" pitchFamily="49" charset="0"/>
              </a:rPr>
              <a:t>CONCLUSIONS</a:t>
            </a:r>
            <a:endParaRPr sz="6000" dirty="0">
              <a:effectLst>
                <a:glow rad="571500">
                  <a:srgbClr val="689550">
                    <a:alpha val="50000"/>
                  </a:srgbClr>
                </a:glow>
              </a:effectLst>
              <a:latin typeface="Consolas" panose="020B0609020204030204" pitchFamily="49" charset="0"/>
            </a:endParaRPr>
          </a:p>
        </p:txBody>
      </p:sp>
      <p:pic>
        <p:nvPicPr>
          <p:cNvPr id="232" name="Google Shape;232;p13" descr="Green Pace logo"/>
          <p:cNvPicPr preferRelativeResize="0"/>
          <p:nvPr/>
        </p:nvPicPr>
        <p:blipFill>
          <a:blip r:embed="rId7">
            <a:alphaModFix/>
          </a:blip>
          <a:stretch>
            <a:fillRect/>
          </a:stretch>
        </p:blipFill>
        <p:spPr>
          <a:xfrm>
            <a:off x="11084074" y="5440526"/>
            <a:ext cx="886601" cy="1149225"/>
          </a:xfrm>
          <a:prstGeom prst="rect">
            <a:avLst/>
          </a:prstGeom>
          <a:noFill/>
          <a:ln>
            <a:noFill/>
          </a:ln>
        </p:spPr>
      </p:pic>
      <p:sp>
        <p:nvSpPr>
          <p:cNvPr id="2" name="Text Placeholder 1">
            <a:extLst>
              <a:ext uri="{FF2B5EF4-FFF2-40B4-BE49-F238E27FC236}">
                <a16:creationId xmlns:a16="http://schemas.microsoft.com/office/drawing/2014/main" id="{18292E32-1192-04D0-F769-DC7314B1357A}"/>
              </a:ext>
            </a:extLst>
          </p:cNvPr>
          <p:cNvSpPr>
            <a:spLocks noGrp="1" noChangeArrowheads="1"/>
          </p:cNvSpPr>
          <p:nvPr>
            <p:ph type="body" idx="1"/>
          </p:nvPr>
        </p:nvSpPr>
        <p:spPr bwMode="auto">
          <a:xfrm>
            <a:off x="278969" y="1966942"/>
            <a:ext cx="10678333"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bg1"/>
                </a:solidFill>
                <a:effectLst>
                  <a:glow rad="381000">
                    <a:srgbClr val="689550">
                      <a:alpha val="90000"/>
                    </a:srgbClr>
                  </a:glow>
                </a:effectLst>
                <a:latin typeface="Consolas" panose="020B0609020204030204" pitchFamily="49" charset="0"/>
              </a:rPr>
              <a:t>Fixing vulnerabilities early saves time, money, and protects the company's reputation.</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bg1"/>
                </a:solidFill>
                <a:effectLst>
                  <a:glow rad="381000">
                    <a:srgbClr val="689550">
                      <a:alpha val="90000"/>
                    </a:srgbClr>
                  </a:glow>
                </a:effectLst>
                <a:latin typeface="Consolas" panose="020B0609020204030204" pitchFamily="49" charset="0"/>
              </a:rPr>
              <a:t>Secure coding is not a one-time event, it must be part of every design, build, and testing cycle.</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bg1"/>
                </a:solidFill>
                <a:effectLst>
                  <a:glow rad="381000">
                    <a:srgbClr val="689550">
                      <a:alpha val="90000"/>
                    </a:srgbClr>
                  </a:glow>
                </a:effectLst>
                <a:latin typeface="Consolas" panose="020B0609020204030204" pitchFamily="49" charset="0"/>
              </a:rPr>
              <a:t>Tools like static analysis, unit testing, fuzzing, and log monitoring make security automatic, reliable, and scalable.</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bg1"/>
                </a:solidFill>
                <a:effectLst>
                  <a:glow rad="381000">
                    <a:srgbClr val="689550">
                      <a:alpha val="90000"/>
                    </a:srgbClr>
                  </a:glow>
                </a:effectLst>
                <a:latin typeface="Consolas" panose="020B0609020204030204" pitchFamily="49" charset="0"/>
              </a:rPr>
              <a:t>Following this plan will protect users, defend data, and build stronger systems in the future.</a:t>
            </a:r>
          </a:p>
        </p:txBody>
      </p:sp>
      <p:pic>
        <p:nvPicPr>
          <p:cNvPr id="30" name="Audio 29">
            <a:hlinkClick r:id="" action="ppaction://media"/>
            <a:extLst>
              <a:ext uri="{FF2B5EF4-FFF2-40B4-BE49-F238E27FC236}">
                <a16:creationId xmlns:a16="http://schemas.microsoft.com/office/drawing/2014/main" id="{2EF1F339-6DE2-8954-03F5-BA980239E3DE}"/>
              </a:ext>
            </a:extLst>
          </p:cNvPr>
          <p:cNvPicPr>
            <a:picLocks noChangeAspect="1"/>
          </p:cNvPicPr>
          <p:nvPr>
            <a:audioFile r:link="rId3"/>
            <p:extLst>
              <p:ext uri="{DAA4B4D4-6D71-4841-9C94-3DE7FCFB9230}">
                <p14:media xmlns:p14="http://schemas.microsoft.com/office/powerpoint/2010/main" r:embed="rId2"/>
              </p:ext>
            </p:extLst>
          </p:nvPr>
        </p:nvPicPr>
        <p:blipFill>
          <a:blip r:embed="rId8"/>
          <a:srcRect l="-118750" t="-118750" r="-118750" b="-118750"/>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34035"/>
    </mc:Choice>
    <mc:Fallback>
      <p:transition spd="slow" advTm="3403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0"/>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pic>
        <p:nvPicPr>
          <p:cNvPr id="1026" name="Picture 2" descr="Central Computer Processors CPU concept. 3d rendering,conceptual image.">
            <a:extLst>
              <a:ext uri="{FF2B5EF4-FFF2-40B4-BE49-F238E27FC236}">
                <a16:creationId xmlns:a16="http://schemas.microsoft.com/office/drawing/2014/main" id="{A22AC5D7-7397-7A0E-0C50-F7274FCFE3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0603" y="-185730"/>
            <a:ext cx="14002603" cy="7043729"/>
          </a:xfrm>
          <a:prstGeom prst="rect">
            <a:avLst/>
          </a:prstGeom>
          <a:noFill/>
          <a:effectLst>
            <a:glow rad="127000">
              <a:schemeClr val="tx1"/>
            </a:glow>
          </a:effectLst>
          <a:extLst>
            <a:ext uri="{909E8E84-426E-40DD-AFC4-6F175D3DCCD1}">
              <a14:hiddenFill xmlns:a14="http://schemas.microsoft.com/office/drawing/2010/main">
                <a:solidFill>
                  <a:srgbClr val="FFFFFF"/>
                </a:solidFill>
              </a14:hiddenFill>
            </a:ext>
          </a:extLst>
        </p:spPr>
      </p:pic>
      <p:sp>
        <p:nvSpPr>
          <p:cNvPr id="237" name="Google Shape;237;p14"/>
          <p:cNvSpPr txBox="1">
            <a:spLocks noGrp="1"/>
          </p:cNvSpPr>
          <p:nvPr>
            <p:ph type="title"/>
          </p:nvPr>
        </p:nvSpPr>
        <p:spPr>
          <a:xfrm>
            <a:off x="-604433" y="210921"/>
            <a:ext cx="5308782" cy="129302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000"/>
              <a:buFont typeface="Century Gothic"/>
              <a:buNone/>
            </a:pPr>
            <a:r>
              <a:rPr lang="en-US" sz="5400" dirty="0">
                <a:solidFill>
                  <a:schemeClr val="bg1"/>
                </a:solidFill>
                <a:effectLst>
                  <a:glow rad="508000">
                    <a:srgbClr val="F79118">
                      <a:alpha val="70000"/>
                    </a:srgbClr>
                  </a:glow>
                </a:effectLst>
                <a:latin typeface="Consolas" panose="020B0609020204030204" pitchFamily="49" charset="0"/>
              </a:rPr>
              <a:t>REFERENCES</a:t>
            </a:r>
            <a:endParaRPr sz="5400" dirty="0">
              <a:solidFill>
                <a:schemeClr val="bg1"/>
              </a:solidFill>
              <a:effectLst>
                <a:glow rad="508000">
                  <a:srgbClr val="F79118">
                    <a:alpha val="70000"/>
                  </a:srgbClr>
                </a:glow>
              </a:effectLst>
              <a:latin typeface="Consolas" panose="020B0609020204030204" pitchFamily="49" charset="0"/>
            </a:endParaRPr>
          </a:p>
        </p:txBody>
      </p:sp>
      <p:pic>
        <p:nvPicPr>
          <p:cNvPr id="239" name="Google Shape;239;p14"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
        <p:nvSpPr>
          <p:cNvPr id="8" name="TextBox 7">
            <a:extLst>
              <a:ext uri="{FF2B5EF4-FFF2-40B4-BE49-F238E27FC236}">
                <a16:creationId xmlns:a16="http://schemas.microsoft.com/office/drawing/2014/main" id="{E49CB5D9-7E5A-FB3E-4993-9D8F028CFDFF}"/>
              </a:ext>
            </a:extLst>
          </p:cNvPr>
          <p:cNvSpPr txBox="1"/>
          <p:nvPr/>
        </p:nvSpPr>
        <p:spPr>
          <a:xfrm>
            <a:off x="5402180" y="447134"/>
            <a:ext cx="6432884" cy="6063198"/>
          </a:xfrm>
          <a:prstGeom prst="rect">
            <a:avLst/>
          </a:prstGeom>
          <a:noFill/>
          <a:effectLst>
            <a:glow rad="444500">
              <a:schemeClr val="tx1">
                <a:alpha val="50000"/>
              </a:schemeClr>
            </a:glow>
          </a:effectLst>
        </p:spPr>
        <p:txBody>
          <a:bodyPr wrap="square">
            <a:spAutoFit/>
          </a:bodyPr>
          <a:lstStyle/>
          <a:p>
            <a:pPr marL="457200" indent="-457200" rtl="0" fontAlgn="base">
              <a:spcBef>
                <a:spcPts val="1200"/>
              </a:spcBef>
              <a:spcAft>
                <a:spcPts val="1200"/>
              </a:spcAft>
              <a:buNone/>
            </a:pPr>
            <a:r>
              <a:rPr lang="en-US" sz="1600" b="1" i="0" dirty="0">
                <a:solidFill>
                  <a:srgbClr val="FFFFFF"/>
                </a:solidFill>
                <a:effectLst>
                  <a:glow rad="127000">
                    <a:schemeClr val="tx1">
                      <a:alpha val="40000"/>
                    </a:schemeClr>
                  </a:glow>
                </a:effectLst>
                <a:latin typeface="Consolas" panose="020B0609020204030204" pitchFamily="49" charset="0"/>
              </a:rPr>
              <a:t>Cppcheck. (n.d.). </a:t>
            </a:r>
            <a:r>
              <a:rPr lang="en-US" sz="1600" b="1" i="0" u="sng" strike="noStrike" dirty="0">
                <a:solidFill>
                  <a:srgbClr val="FFFFFF"/>
                </a:solidFill>
                <a:effectLst>
                  <a:glow rad="127000">
                    <a:schemeClr val="tx1">
                      <a:alpha val="40000"/>
                    </a:schemeClr>
                  </a:glow>
                </a:effectLst>
                <a:latin typeface="Consolas" panose="020B0609020204030204" pitchFamily="49" charset="0"/>
                <a:hlinkClick r:id="rId6">
                  <a:extLst>
                    <a:ext uri="{A12FA001-AC4F-418D-AE19-62706E023703}">
                      <ahyp:hlinkClr xmlns:ahyp="http://schemas.microsoft.com/office/drawing/2018/hyperlinkcolor" val="tx"/>
                    </a:ext>
                  </a:extLst>
                </a:hlinkClick>
              </a:rPr>
              <a:t>https://cppcheck.sourceforge.io/</a:t>
            </a:r>
            <a:r>
              <a:rPr lang="en-US" sz="1600" b="1" i="0" dirty="0">
                <a:solidFill>
                  <a:srgbClr val="FFFFFF"/>
                </a:solidFill>
                <a:effectLst>
                  <a:glow rad="127000">
                    <a:schemeClr val="tx1">
                      <a:alpha val="40000"/>
                    </a:schemeClr>
                  </a:glow>
                </a:effectLst>
                <a:latin typeface="Consolas" panose="020B0609020204030204" pitchFamily="49" charset="0"/>
              </a:rPr>
              <a:t>  </a:t>
            </a:r>
            <a:endParaRPr lang="en-US" sz="1600" b="1" i="0" dirty="0">
              <a:solidFill>
                <a:srgbClr val="000000"/>
              </a:solidFill>
              <a:effectLst>
                <a:glow rad="127000">
                  <a:schemeClr val="tx1">
                    <a:alpha val="40000"/>
                  </a:schemeClr>
                </a:glow>
              </a:effectLst>
              <a:latin typeface="Consolas" panose="020B0609020204030204" pitchFamily="49" charset="0"/>
            </a:endParaRPr>
          </a:p>
          <a:p>
            <a:pPr marL="457200" indent="-457200" rtl="0" fontAlgn="base">
              <a:spcBef>
                <a:spcPts val="1200"/>
              </a:spcBef>
              <a:spcAft>
                <a:spcPts val="1200"/>
              </a:spcAft>
              <a:buNone/>
            </a:pPr>
            <a:r>
              <a:rPr lang="en-US" sz="1600" b="1" i="1" dirty="0">
                <a:solidFill>
                  <a:srgbClr val="FFFFFF"/>
                </a:solidFill>
                <a:effectLst>
                  <a:glow rad="127000">
                    <a:schemeClr val="tx1">
                      <a:alpha val="40000"/>
                    </a:schemeClr>
                  </a:glow>
                </a:effectLst>
                <a:latin typeface="Consolas" panose="020B0609020204030204" pitchFamily="49" charset="0"/>
              </a:rPr>
              <a:t>Extra clang tools 21.0.0git documentation</a:t>
            </a:r>
            <a:r>
              <a:rPr lang="en-US" sz="1600" b="1" i="0" dirty="0">
                <a:solidFill>
                  <a:srgbClr val="FFFFFF"/>
                </a:solidFill>
                <a:effectLst>
                  <a:glow rad="127000">
                    <a:schemeClr val="tx1">
                      <a:alpha val="40000"/>
                    </a:schemeClr>
                  </a:glow>
                </a:effectLst>
                <a:latin typeface="Consolas" panose="020B0609020204030204" pitchFamily="49" charset="0"/>
              </a:rPr>
              <a:t>. Clang. (n.d.).     </a:t>
            </a:r>
            <a:r>
              <a:rPr lang="en-US" sz="1600" b="1" i="0" u="sng" strike="noStrike" dirty="0">
                <a:solidFill>
                  <a:srgbClr val="F0532B"/>
                </a:solidFill>
                <a:effectLst>
                  <a:glow rad="127000">
                    <a:schemeClr val="tx1">
                      <a:alpha val="40000"/>
                    </a:schemeClr>
                  </a:glow>
                </a:effectLst>
                <a:latin typeface="Consolas" panose="020B0609020204030204" pitchFamily="49" charset="0"/>
                <a:hlinkClick r:id="rId7">
                  <a:extLst>
                    <a:ext uri="{A12FA001-AC4F-418D-AE19-62706E023703}">
                      <ahyp:hlinkClr xmlns:ahyp="http://schemas.microsoft.com/office/drawing/2018/hyperlinkcolor" val="tx"/>
                    </a:ext>
                  </a:extLst>
                </a:hlinkClick>
              </a:rPr>
              <a:t>https://clang.llvm.org/extra/clang-tidy/</a:t>
            </a:r>
            <a:r>
              <a:rPr lang="en-US" sz="1600" b="1" i="0" dirty="0">
                <a:solidFill>
                  <a:srgbClr val="FFFFFF"/>
                </a:solidFill>
                <a:effectLst>
                  <a:glow rad="127000">
                    <a:schemeClr val="tx1">
                      <a:alpha val="40000"/>
                    </a:schemeClr>
                  </a:glow>
                </a:effectLst>
                <a:latin typeface="Consolas" panose="020B0609020204030204" pitchFamily="49" charset="0"/>
              </a:rPr>
              <a:t>  </a:t>
            </a:r>
            <a:endParaRPr lang="en-US" sz="1600" b="1" i="0" dirty="0">
              <a:solidFill>
                <a:srgbClr val="000000"/>
              </a:solidFill>
              <a:effectLst>
                <a:glow rad="127000">
                  <a:schemeClr val="tx1">
                    <a:alpha val="40000"/>
                  </a:schemeClr>
                </a:glow>
              </a:effectLst>
              <a:latin typeface="Consolas" panose="020B0609020204030204" pitchFamily="49" charset="0"/>
            </a:endParaRPr>
          </a:p>
          <a:p>
            <a:pPr marL="457200" indent="-457200" rtl="0" fontAlgn="base">
              <a:spcBef>
                <a:spcPts val="1200"/>
              </a:spcBef>
              <a:spcAft>
                <a:spcPts val="1200"/>
              </a:spcAft>
              <a:buNone/>
            </a:pPr>
            <a:r>
              <a:rPr lang="en-US" sz="1600" b="1" i="1" dirty="0" err="1">
                <a:solidFill>
                  <a:srgbClr val="FFFFFF"/>
                </a:solidFill>
                <a:effectLst>
                  <a:glow rad="127000">
                    <a:schemeClr val="tx1">
                      <a:alpha val="40000"/>
                    </a:schemeClr>
                  </a:glow>
                </a:effectLst>
                <a:latin typeface="Consolas" panose="020B0609020204030204" pitchFamily="49" charset="0"/>
              </a:rPr>
              <a:t>GoogleTest</a:t>
            </a:r>
            <a:r>
              <a:rPr lang="en-US" sz="1600" b="1" i="1" dirty="0">
                <a:solidFill>
                  <a:srgbClr val="FFFFFF"/>
                </a:solidFill>
                <a:effectLst>
                  <a:glow rad="127000">
                    <a:schemeClr val="tx1">
                      <a:alpha val="40000"/>
                    </a:schemeClr>
                  </a:glow>
                </a:effectLst>
                <a:latin typeface="Consolas" panose="020B0609020204030204" pitchFamily="49" charset="0"/>
              </a:rPr>
              <a:t> user’s guide</a:t>
            </a:r>
            <a:r>
              <a:rPr lang="en-US" sz="1600" b="1" i="0" dirty="0">
                <a:solidFill>
                  <a:srgbClr val="FFFFFF"/>
                </a:solidFill>
                <a:effectLst>
                  <a:glow rad="127000">
                    <a:schemeClr val="tx1">
                      <a:alpha val="40000"/>
                    </a:schemeClr>
                  </a:glow>
                </a:effectLst>
                <a:latin typeface="Consolas" panose="020B0609020204030204" pitchFamily="49" charset="0"/>
              </a:rPr>
              <a:t>. </a:t>
            </a:r>
            <a:r>
              <a:rPr lang="en-US" sz="1600" b="1" i="0" dirty="0" err="1">
                <a:solidFill>
                  <a:srgbClr val="FFFFFF"/>
                </a:solidFill>
                <a:effectLst>
                  <a:glow rad="127000">
                    <a:schemeClr val="tx1">
                      <a:alpha val="40000"/>
                    </a:schemeClr>
                  </a:glow>
                </a:effectLst>
                <a:latin typeface="Consolas" panose="020B0609020204030204" pitchFamily="49" charset="0"/>
              </a:rPr>
              <a:t>GoogleTest</a:t>
            </a:r>
            <a:r>
              <a:rPr lang="en-US" sz="1600" b="1" i="0" dirty="0">
                <a:solidFill>
                  <a:srgbClr val="FFFFFF"/>
                </a:solidFill>
                <a:effectLst>
                  <a:glow rad="127000">
                    <a:schemeClr val="tx1">
                      <a:alpha val="40000"/>
                    </a:schemeClr>
                  </a:glow>
                </a:effectLst>
                <a:latin typeface="Consolas" panose="020B0609020204030204" pitchFamily="49" charset="0"/>
              </a:rPr>
              <a:t>. (n.d.). </a:t>
            </a:r>
            <a:r>
              <a:rPr lang="en-US" sz="1600" b="1" i="0" u="sng" strike="noStrike" dirty="0">
                <a:solidFill>
                  <a:srgbClr val="FFFFFF"/>
                </a:solidFill>
                <a:effectLst>
                  <a:glow rad="127000">
                    <a:schemeClr val="tx1">
                      <a:alpha val="40000"/>
                    </a:schemeClr>
                  </a:glow>
                </a:effectLst>
                <a:latin typeface="Consolas" panose="020B0609020204030204" pitchFamily="49" charset="0"/>
                <a:hlinkClick r:id="rId8">
                  <a:extLst>
                    <a:ext uri="{A12FA001-AC4F-418D-AE19-62706E023703}">
                      <ahyp:hlinkClr xmlns:ahyp="http://schemas.microsoft.com/office/drawing/2018/hyperlinkcolor" val="tx"/>
                    </a:ext>
                  </a:extLst>
                </a:hlinkClick>
              </a:rPr>
              <a:t>https://google.github.io/googletest/</a:t>
            </a:r>
            <a:r>
              <a:rPr lang="en-US" sz="1600" b="1" i="0" dirty="0">
                <a:solidFill>
                  <a:srgbClr val="FFFFFF"/>
                </a:solidFill>
                <a:effectLst>
                  <a:glow rad="127000">
                    <a:schemeClr val="tx1">
                      <a:alpha val="40000"/>
                    </a:schemeClr>
                  </a:glow>
                </a:effectLst>
                <a:latin typeface="Consolas" panose="020B0609020204030204" pitchFamily="49" charset="0"/>
              </a:rPr>
              <a:t>  </a:t>
            </a:r>
            <a:endParaRPr lang="en-US" sz="1600" b="1" i="0" dirty="0">
              <a:solidFill>
                <a:srgbClr val="000000"/>
              </a:solidFill>
              <a:effectLst>
                <a:glow rad="127000">
                  <a:schemeClr val="tx1">
                    <a:alpha val="40000"/>
                  </a:schemeClr>
                </a:glow>
              </a:effectLst>
              <a:latin typeface="Consolas" panose="020B0609020204030204" pitchFamily="49" charset="0"/>
            </a:endParaRPr>
          </a:p>
          <a:p>
            <a:pPr marL="457200" indent="-457200" rtl="0" fontAlgn="base">
              <a:spcBef>
                <a:spcPts val="1200"/>
              </a:spcBef>
              <a:spcAft>
                <a:spcPts val="1200"/>
              </a:spcAft>
              <a:buNone/>
            </a:pPr>
            <a:r>
              <a:rPr lang="en-US" sz="1600" b="1" i="0" dirty="0">
                <a:solidFill>
                  <a:srgbClr val="FFFFFF"/>
                </a:solidFill>
                <a:effectLst>
                  <a:glow rad="127000">
                    <a:schemeClr val="tx1">
                      <a:alpha val="40000"/>
                    </a:schemeClr>
                  </a:glow>
                </a:effectLst>
                <a:latin typeface="Consolas" panose="020B0609020204030204" pitchFamily="49" charset="0"/>
              </a:rPr>
              <a:t>Seacord, R. C.  (2013-03-23). Secure Coding in C and C++,  2nd Edition. [[VitalSource Bookshelf version]].  Retrieved from vbk://9780132981972 </a:t>
            </a:r>
            <a:endParaRPr lang="en-US" sz="1600" b="1" i="0" dirty="0">
              <a:solidFill>
                <a:srgbClr val="000000"/>
              </a:solidFill>
              <a:effectLst>
                <a:glow rad="127000">
                  <a:schemeClr val="tx1">
                    <a:alpha val="40000"/>
                  </a:schemeClr>
                </a:glow>
              </a:effectLst>
              <a:latin typeface="Consolas" panose="020B0609020204030204" pitchFamily="49" charset="0"/>
            </a:endParaRPr>
          </a:p>
          <a:p>
            <a:pPr marL="457200" indent="-457200" rtl="0" fontAlgn="base">
              <a:spcBef>
                <a:spcPts val="1200"/>
              </a:spcBef>
              <a:spcAft>
                <a:spcPts val="1200"/>
              </a:spcAft>
              <a:buNone/>
            </a:pPr>
            <a:r>
              <a:rPr lang="en-US" sz="1600" b="1" i="1" dirty="0">
                <a:solidFill>
                  <a:srgbClr val="FFFFFF"/>
                </a:solidFill>
                <a:effectLst>
                  <a:glow rad="127000">
                    <a:schemeClr val="tx1">
                      <a:alpha val="40000"/>
                    </a:schemeClr>
                  </a:glow>
                </a:effectLst>
                <a:latin typeface="Consolas" panose="020B0609020204030204" pitchFamily="49" charset="0"/>
              </a:rPr>
              <a:t>Sei cert C++ coding standard</a:t>
            </a:r>
            <a:r>
              <a:rPr lang="en-US" sz="1600" b="1" i="0" dirty="0">
                <a:solidFill>
                  <a:srgbClr val="FFFFFF"/>
                </a:solidFill>
                <a:effectLst>
                  <a:glow rad="127000">
                    <a:schemeClr val="tx1">
                      <a:alpha val="40000"/>
                    </a:schemeClr>
                  </a:glow>
                </a:effectLst>
                <a:latin typeface="Consolas" panose="020B0609020204030204" pitchFamily="49" charset="0"/>
              </a:rPr>
              <a:t>. SEI CERT C++ Coding Standard - SEI CERT C++ Coding Standard - Confluence. (n.d.). </a:t>
            </a:r>
            <a:r>
              <a:rPr lang="en-US" sz="1600" b="1" i="0" u="sng" strike="noStrike" dirty="0">
                <a:solidFill>
                  <a:srgbClr val="FFFFFF"/>
                </a:solidFill>
                <a:effectLst>
                  <a:glow rad="127000">
                    <a:schemeClr val="tx1">
                      <a:alpha val="40000"/>
                    </a:schemeClr>
                  </a:glow>
                </a:effectLst>
                <a:latin typeface="Consolas" panose="020B0609020204030204" pitchFamily="49" charset="0"/>
                <a:hlinkClick r:id="rId9">
                  <a:extLst>
                    <a:ext uri="{A12FA001-AC4F-418D-AE19-62706E023703}">
                      <ahyp:hlinkClr xmlns:ahyp="http://schemas.microsoft.com/office/drawing/2018/hyperlinkcolor" val="tx"/>
                    </a:ext>
                  </a:extLst>
                </a:hlinkClick>
              </a:rPr>
              <a:t>https://wiki.sei.cmu.edu/confluence/pages/viewpage.action?pageId=88046682</a:t>
            </a:r>
            <a:r>
              <a:rPr lang="en-US" sz="1600" b="1" i="0" dirty="0">
                <a:solidFill>
                  <a:srgbClr val="FFFFFF"/>
                </a:solidFill>
                <a:effectLst>
                  <a:glow rad="127000">
                    <a:schemeClr val="tx1">
                      <a:alpha val="40000"/>
                    </a:schemeClr>
                  </a:glow>
                </a:effectLst>
                <a:latin typeface="Consolas" panose="020B0609020204030204" pitchFamily="49" charset="0"/>
              </a:rPr>
              <a:t>  </a:t>
            </a:r>
            <a:endParaRPr lang="en-US" sz="1600" b="1" i="0" dirty="0">
              <a:solidFill>
                <a:srgbClr val="000000"/>
              </a:solidFill>
              <a:effectLst>
                <a:glow rad="127000">
                  <a:schemeClr val="tx1">
                    <a:alpha val="40000"/>
                  </a:schemeClr>
                </a:glow>
              </a:effectLst>
              <a:latin typeface="Consolas" panose="020B0609020204030204" pitchFamily="49" charset="0"/>
            </a:endParaRPr>
          </a:p>
          <a:p>
            <a:pPr marL="457200" indent="-457200" rtl="0" fontAlgn="base">
              <a:spcBef>
                <a:spcPts val="1200"/>
              </a:spcBef>
              <a:spcAft>
                <a:spcPts val="1200"/>
              </a:spcAft>
            </a:pPr>
            <a:r>
              <a:rPr lang="en-US" sz="1600" b="1" i="1" dirty="0">
                <a:solidFill>
                  <a:srgbClr val="FFFFFF"/>
                </a:solidFill>
                <a:effectLst>
                  <a:glow rad="127000">
                    <a:schemeClr val="tx1">
                      <a:alpha val="40000"/>
                    </a:schemeClr>
                  </a:glow>
                </a:effectLst>
                <a:latin typeface="Consolas" panose="020B0609020204030204" pitchFamily="49" charset="0"/>
              </a:rPr>
              <a:t>SonarQube Server Automates Code Quality and security reviews</a:t>
            </a:r>
            <a:r>
              <a:rPr lang="en-US" sz="1600" b="1" i="0" dirty="0">
                <a:solidFill>
                  <a:srgbClr val="FFFFFF"/>
                </a:solidFill>
                <a:effectLst>
                  <a:glow rad="127000">
                    <a:schemeClr val="tx1">
                      <a:alpha val="40000"/>
                    </a:schemeClr>
                  </a:glow>
                </a:effectLst>
                <a:latin typeface="Consolas" panose="020B0609020204030204" pitchFamily="49" charset="0"/>
              </a:rPr>
              <a:t>. Clean Code: Writing Clear, Readable, Understandable &amp; Reliable Quality Code. (n.d.). </a:t>
            </a:r>
            <a:r>
              <a:rPr lang="en-US" sz="1600" b="1" i="0" u="sng" strike="noStrike" dirty="0">
                <a:solidFill>
                  <a:srgbClr val="FFFFFF"/>
                </a:solidFill>
                <a:effectLst>
                  <a:glow rad="127000">
                    <a:schemeClr val="tx1">
                      <a:alpha val="40000"/>
                    </a:schemeClr>
                  </a:glow>
                </a:effectLst>
                <a:latin typeface="Consolas" panose="020B0609020204030204" pitchFamily="49" charset="0"/>
                <a:hlinkClick r:id="rId10">
                  <a:extLst>
                    <a:ext uri="{A12FA001-AC4F-418D-AE19-62706E023703}">
                      <ahyp:hlinkClr xmlns:ahyp="http://schemas.microsoft.com/office/drawing/2018/hyperlinkcolor" val="tx"/>
                    </a:ext>
                  </a:extLst>
                </a:hlinkClick>
              </a:rPr>
              <a:t>https://www.sonarsource.com/products/sonarqube/</a:t>
            </a:r>
            <a:r>
              <a:rPr lang="en-US" sz="1600" b="1" i="0" dirty="0">
                <a:solidFill>
                  <a:srgbClr val="FFFFFF"/>
                </a:solidFill>
                <a:effectLst>
                  <a:glow rad="127000">
                    <a:schemeClr val="tx1">
                      <a:alpha val="40000"/>
                    </a:schemeClr>
                  </a:glow>
                </a:effectLst>
                <a:latin typeface="Consolas" panose="020B0609020204030204" pitchFamily="49" charset="0"/>
              </a:rPr>
              <a:t> </a:t>
            </a:r>
            <a:endParaRPr lang="en-US" sz="1600" b="1" i="0" dirty="0">
              <a:solidFill>
                <a:srgbClr val="000000"/>
              </a:solidFill>
              <a:effectLst>
                <a:glow rad="127000">
                  <a:schemeClr val="tx1">
                    <a:alpha val="40000"/>
                  </a:schemeClr>
                </a:glow>
              </a:effectLst>
              <a:latin typeface="Consolas" panose="020B0609020204030204" pitchFamily="49"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59539"/>
    </mc:Choice>
    <mc:Fallback>
      <p:transition spd="slow" advTm="59539"/>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7edc11bf-71b1-4219-b443-a0b5c4bbccc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2AF27F39EDF5E418806676741096659" ma:contentTypeVersion="8" ma:contentTypeDescription="Create a new document." ma:contentTypeScope="" ma:versionID="146167b4d2d2cdcf368d66bf2023508c">
  <xsd:schema xmlns:xsd="http://www.w3.org/2001/XMLSchema" xmlns:xs="http://www.w3.org/2001/XMLSchema" xmlns:p="http://schemas.microsoft.com/office/2006/metadata/properties" xmlns:ns3="7edc11bf-71b1-4219-b443-a0b5c4bbcccc" targetNamespace="http://schemas.microsoft.com/office/2006/metadata/properties" ma:root="true" ma:fieldsID="7baa1a28374df322a4947db53f215bed" ns3:_="">
    <xsd:import namespace="7edc11bf-71b1-4219-b443-a0b5c4bbcccc"/>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_activity" minOccurs="0"/>
                <xsd:element ref="ns3:MediaServiceObjectDetectorVersions"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dc11bf-71b1-4219-b443-a0b5c4bbccc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_activity" ma:index="12" nillable="true" ma:displayName="_activity" ma:hidden="true" ma:internalName="_activity">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E9B35DD-16B6-4415-A905-CDACA4FC6DBE}">
  <ds:schemaRefs>
    <ds:schemaRef ds:uri="http://purl.org/dc/terms/"/>
    <ds:schemaRef ds:uri="http://purl.org/dc/elements/1.1/"/>
    <ds:schemaRef ds:uri="http://schemas.microsoft.com/office/2006/metadata/properties"/>
    <ds:schemaRef ds:uri="http://schemas.openxmlformats.org/package/2006/metadata/core-properties"/>
    <ds:schemaRef ds:uri="http://schemas.microsoft.com/office/2006/documentManagement/types"/>
    <ds:schemaRef ds:uri="http://www.w3.org/XML/1998/namespace"/>
    <ds:schemaRef ds:uri="http://schemas.microsoft.com/office/infopath/2007/PartnerControls"/>
    <ds:schemaRef ds:uri="7edc11bf-71b1-4219-b443-a0b5c4bbcccc"/>
    <ds:schemaRef ds:uri="http://purl.org/dc/dcmitype/"/>
  </ds:schemaRefs>
</ds:datastoreItem>
</file>

<file path=customXml/itemProps2.xml><?xml version="1.0" encoding="utf-8"?>
<ds:datastoreItem xmlns:ds="http://schemas.openxmlformats.org/officeDocument/2006/customXml" ds:itemID="{1C1DF839-FA5C-42E5-9A8D-B738E40E53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edc11bf-71b1-4219-b443-a0b5c4bbcc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398236C-7FA9-40C9-B456-AA158A506A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481</TotalTime>
  <Words>2935</Words>
  <Application>Microsoft Office PowerPoint</Application>
  <PresentationFormat>Widescreen</PresentationFormat>
  <Paragraphs>130</Paragraphs>
  <Slides>16</Slides>
  <Notes>16</Notes>
  <HiddenSlides>0</HiddenSlides>
  <MMClips>15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Calibri</vt:lpstr>
      <vt:lpstr>Consolas</vt:lpstr>
      <vt:lpstr>Century Gothic</vt:lpstr>
      <vt:lpstr>Arial</vt:lpstr>
      <vt:lpstr>Wingdings</vt:lpstr>
      <vt:lpstr>Vapor Trail</vt:lpstr>
      <vt:lpstr>Green Pace</vt:lpstr>
      <vt:lpstr>OVERVIEW: DEFENSE IN DEPTH</vt:lpstr>
      <vt:lpstr>THREATS MATRIX</vt:lpstr>
      <vt:lpstr>10 PRINCIPLES</vt:lpstr>
      <vt:lpstr>CODING STANDARDS</vt:lpstr>
      <vt:lpstr>ENCRYPTION POLICIES</vt:lpstr>
      <vt:lpstr>TRIPLE-A POLICIES</vt:lpstr>
      <vt:lpstr>Unit Testing: Safe String Copy</vt:lpstr>
      <vt:lpstr>PowerPoint Presentation</vt:lpstr>
      <vt:lpstr>PowerPoint Presentation</vt:lpstr>
      <vt:lpstr>PowerPoint Presentation</vt:lpstr>
      <vt:lpstr>AUTOMATION SUMMARY</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Nelson, Andrew</cp:lastModifiedBy>
  <cp:revision>11</cp:revision>
  <dcterms:created xsi:type="dcterms:W3CDTF">2020-08-19T17:59:24Z</dcterms:created>
  <dcterms:modified xsi:type="dcterms:W3CDTF">2025-04-27T15:18:48Z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0x01010002AF27F39EDF5E418806676741096659</vt:lpwstr>
  </property>
</Properties>
</file>